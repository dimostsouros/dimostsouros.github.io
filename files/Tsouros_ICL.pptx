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26" r:id="rId4"/>
  </p:sldMasterIdLst>
  <p:notesMasterIdLst>
    <p:notesMasterId r:id="rId37"/>
  </p:notesMasterIdLst>
  <p:sldIdLst>
    <p:sldId id="284" r:id="rId5"/>
    <p:sldId id="286" r:id="rId6"/>
    <p:sldId id="287" r:id="rId7"/>
    <p:sldId id="288" r:id="rId8"/>
    <p:sldId id="289" r:id="rId9"/>
    <p:sldId id="296" r:id="rId10"/>
    <p:sldId id="291" r:id="rId11"/>
    <p:sldId id="290" r:id="rId12"/>
    <p:sldId id="269" r:id="rId13"/>
    <p:sldId id="297" r:id="rId14"/>
    <p:sldId id="294" r:id="rId15"/>
    <p:sldId id="298" r:id="rId16"/>
    <p:sldId id="271" r:id="rId17"/>
    <p:sldId id="299" r:id="rId18"/>
    <p:sldId id="302" r:id="rId19"/>
    <p:sldId id="303" r:id="rId20"/>
    <p:sldId id="304" r:id="rId21"/>
    <p:sldId id="305" r:id="rId22"/>
    <p:sldId id="306" r:id="rId23"/>
    <p:sldId id="307" r:id="rId24"/>
    <p:sldId id="275" r:id="rId25"/>
    <p:sldId id="277" r:id="rId26"/>
    <p:sldId id="300" r:id="rId27"/>
    <p:sldId id="280" r:id="rId28"/>
    <p:sldId id="279" r:id="rId29"/>
    <p:sldId id="259" r:id="rId30"/>
    <p:sldId id="309" r:id="rId31"/>
    <p:sldId id="308" r:id="rId32"/>
    <p:sldId id="281" r:id="rId33"/>
    <p:sldId id="310" r:id="rId34"/>
    <p:sldId id="285" r:id="rId35"/>
    <p:sldId id="258" r:id="rId3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E1300C-FC2F-5F46-82D7-171540190228}" v="1468" dt="2024-09-01T16:45:52.805"/>
    <p1510:client id="{6A6A5271-4E3E-4B99-9713-A647AA4AA393}" v="1715" dt="2024-09-01T11:39:22.67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–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1EBBBCC-DAD2-459C-BE2E-F6DE35CF9A28}" styleName="Dark Style 2 –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01" autoAdjust="0"/>
    <p:restoredTop sz="94561"/>
  </p:normalViewPr>
  <p:slideViewPr>
    <p:cSldViewPr snapToGrid="0">
      <p:cViewPr varScale="1">
        <p:scale>
          <a:sx n="75" d="100"/>
          <a:sy n="75" d="100"/>
        </p:scale>
        <p:origin x="118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17C85A-B211-40BB-BF28-278BE984A34B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BE"/>
        </a:p>
      </dgm:t>
    </dgm:pt>
    <dgm:pt modelId="{1BBBA255-5E85-409F-879D-34C0A7C30F58}">
      <dgm:prSet phldrT="[Text]"/>
      <dgm:spPr/>
      <dgm:t>
        <a:bodyPr/>
        <a:lstStyle/>
        <a:p>
          <a:r>
            <a:rPr lang="en-US" dirty="0"/>
            <a:t>High-Quality NL-CP </a:t>
          </a:r>
          <a:r>
            <a:rPr lang="en-US" b="1" dirty="0"/>
            <a:t>dataset</a:t>
          </a:r>
          <a:r>
            <a:rPr lang="en-US" dirty="0"/>
            <a:t>.</a:t>
          </a:r>
          <a:endParaRPr lang="en-BE" dirty="0"/>
        </a:p>
      </dgm:t>
    </dgm:pt>
    <dgm:pt modelId="{B7FCA9DB-CD44-4CEE-B815-4A0F2455E6EF}" type="parTrans" cxnId="{0F8741C1-A91C-46EC-9049-A9C2E21030CE}">
      <dgm:prSet/>
      <dgm:spPr/>
      <dgm:t>
        <a:bodyPr/>
        <a:lstStyle/>
        <a:p>
          <a:endParaRPr lang="en-BE"/>
        </a:p>
      </dgm:t>
    </dgm:pt>
    <dgm:pt modelId="{98F57A27-9293-41B6-BE3F-B3C5C3AEC2E5}" type="sibTrans" cxnId="{0F8741C1-A91C-46EC-9049-A9C2E21030CE}">
      <dgm:prSet/>
      <dgm:spPr/>
      <dgm:t>
        <a:bodyPr/>
        <a:lstStyle/>
        <a:p>
          <a:endParaRPr lang="en-BE"/>
        </a:p>
      </dgm:t>
    </dgm:pt>
    <dgm:pt modelId="{F48644C7-8852-4810-8301-30793962AB62}">
      <dgm:prSet/>
      <dgm:spPr/>
      <dgm:t>
        <a:bodyPr/>
        <a:lstStyle/>
        <a:p>
          <a:r>
            <a:rPr lang="en-US" dirty="0"/>
            <a:t>Beyond ICL: Supervised </a:t>
          </a:r>
          <a:r>
            <a:rPr lang="en-US" b="1" dirty="0"/>
            <a:t>fine-tuning</a:t>
          </a:r>
          <a:r>
            <a:rPr lang="en-US" dirty="0"/>
            <a:t> of LLMs.</a:t>
          </a:r>
        </a:p>
      </dgm:t>
    </dgm:pt>
    <dgm:pt modelId="{BC1CC95C-E752-4435-8D9F-B951FAAD010B}" type="parTrans" cxnId="{7C18379F-BF97-44EB-B59A-BE4006722718}">
      <dgm:prSet/>
      <dgm:spPr/>
      <dgm:t>
        <a:bodyPr/>
        <a:lstStyle/>
        <a:p>
          <a:endParaRPr lang="en-BE"/>
        </a:p>
      </dgm:t>
    </dgm:pt>
    <dgm:pt modelId="{D0240F28-224F-4F94-BFEB-473E6112C05E}" type="sibTrans" cxnId="{7C18379F-BF97-44EB-B59A-BE4006722718}">
      <dgm:prSet/>
      <dgm:spPr/>
      <dgm:t>
        <a:bodyPr/>
        <a:lstStyle/>
        <a:p>
          <a:endParaRPr lang="en-BE"/>
        </a:p>
      </dgm:t>
    </dgm:pt>
    <dgm:pt modelId="{47F9C6AE-A7FA-433C-99D8-90ED75641973}">
      <dgm:prSet/>
      <dgm:spPr/>
      <dgm:t>
        <a:bodyPr/>
        <a:lstStyle/>
        <a:p>
          <a:r>
            <a:rPr lang="en-US" dirty="0"/>
            <a:t>Integrate techniques from LLMs </a:t>
          </a:r>
          <a:r>
            <a:rPr lang="en-US" b="1" dirty="0"/>
            <a:t>coding assistants</a:t>
          </a:r>
          <a:r>
            <a:rPr lang="en-US" dirty="0"/>
            <a:t>.</a:t>
          </a:r>
        </a:p>
      </dgm:t>
    </dgm:pt>
    <dgm:pt modelId="{971195B1-FE01-4070-BE81-F7DB4D7CE9B4}" type="parTrans" cxnId="{4F0EA4CF-4A7A-4616-A03B-C02B8EF153D3}">
      <dgm:prSet/>
      <dgm:spPr/>
      <dgm:t>
        <a:bodyPr/>
        <a:lstStyle/>
        <a:p>
          <a:endParaRPr lang="en-BE"/>
        </a:p>
      </dgm:t>
    </dgm:pt>
    <dgm:pt modelId="{7DE115AB-1581-4DF4-8C82-2955A9C56355}" type="sibTrans" cxnId="{4F0EA4CF-4A7A-4616-A03B-C02B8EF153D3}">
      <dgm:prSet/>
      <dgm:spPr/>
      <dgm:t>
        <a:bodyPr/>
        <a:lstStyle/>
        <a:p>
          <a:endParaRPr lang="en-BE"/>
        </a:p>
      </dgm:t>
    </dgm:pt>
    <dgm:pt modelId="{01DE879A-933A-45B8-90D7-2CFE029E78C1}">
      <dgm:prSet/>
      <dgm:spPr/>
      <dgm:t>
        <a:bodyPr/>
        <a:lstStyle/>
        <a:p>
          <a:r>
            <a:rPr lang="en-US" dirty="0"/>
            <a:t>Multi-turn </a:t>
          </a:r>
          <a:r>
            <a:rPr lang="en-US" b="1" dirty="0"/>
            <a:t>interactive</a:t>
          </a:r>
          <a:r>
            <a:rPr lang="en-US" dirty="0"/>
            <a:t> modelling system.</a:t>
          </a:r>
        </a:p>
      </dgm:t>
    </dgm:pt>
    <dgm:pt modelId="{8F2BE0EE-F85F-49E7-AA64-28A4EC60251E}" type="parTrans" cxnId="{B83D576E-1F9E-4F74-B1C2-01BAA9596364}">
      <dgm:prSet/>
      <dgm:spPr/>
      <dgm:t>
        <a:bodyPr/>
        <a:lstStyle/>
        <a:p>
          <a:endParaRPr lang="en-BE"/>
        </a:p>
      </dgm:t>
    </dgm:pt>
    <dgm:pt modelId="{9A48CA74-B8B4-4C75-8B6D-F3C724F0BFAD}" type="sibTrans" cxnId="{B83D576E-1F9E-4F74-B1C2-01BAA9596364}">
      <dgm:prSet/>
      <dgm:spPr/>
      <dgm:t>
        <a:bodyPr/>
        <a:lstStyle/>
        <a:p>
          <a:endParaRPr lang="en-BE"/>
        </a:p>
      </dgm:t>
    </dgm:pt>
    <dgm:pt modelId="{548484D3-7F7B-4CAC-8F65-3612AFDBC495}" type="pres">
      <dgm:prSet presAssocID="{8117C85A-B211-40BB-BF28-278BE984A34B}" presName="diagram" presStyleCnt="0">
        <dgm:presLayoutVars>
          <dgm:dir/>
          <dgm:resizeHandles val="exact"/>
        </dgm:presLayoutVars>
      </dgm:prSet>
      <dgm:spPr/>
    </dgm:pt>
    <dgm:pt modelId="{4DD82BDC-8486-44D1-A41B-C21352F0B491}" type="pres">
      <dgm:prSet presAssocID="{1BBBA255-5E85-409F-879D-34C0A7C30F58}" presName="node" presStyleLbl="node1" presStyleIdx="0" presStyleCnt="4">
        <dgm:presLayoutVars>
          <dgm:bulletEnabled val="1"/>
        </dgm:presLayoutVars>
      </dgm:prSet>
      <dgm:spPr/>
    </dgm:pt>
    <dgm:pt modelId="{9EA4D270-7A40-44D2-9BE2-B00B19690BC8}" type="pres">
      <dgm:prSet presAssocID="{98F57A27-9293-41B6-BE3F-B3C5C3AEC2E5}" presName="sibTrans" presStyleCnt="0"/>
      <dgm:spPr/>
    </dgm:pt>
    <dgm:pt modelId="{1F71A863-6ACE-41E3-B3FF-D17A819775F7}" type="pres">
      <dgm:prSet presAssocID="{F48644C7-8852-4810-8301-30793962AB62}" presName="node" presStyleLbl="node1" presStyleIdx="1" presStyleCnt="4">
        <dgm:presLayoutVars>
          <dgm:bulletEnabled val="1"/>
        </dgm:presLayoutVars>
      </dgm:prSet>
      <dgm:spPr/>
    </dgm:pt>
    <dgm:pt modelId="{08A03855-D92D-436E-BDB1-5F71A7FAB7B7}" type="pres">
      <dgm:prSet presAssocID="{D0240F28-224F-4F94-BFEB-473E6112C05E}" presName="sibTrans" presStyleCnt="0"/>
      <dgm:spPr/>
    </dgm:pt>
    <dgm:pt modelId="{2BB9AC70-7704-4CE1-B3D6-9592A47E84F2}" type="pres">
      <dgm:prSet presAssocID="{47F9C6AE-A7FA-433C-99D8-90ED75641973}" presName="node" presStyleLbl="node1" presStyleIdx="2" presStyleCnt="4">
        <dgm:presLayoutVars>
          <dgm:bulletEnabled val="1"/>
        </dgm:presLayoutVars>
      </dgm:prSet>
      <dgm:spPr/>
    </dgm:pt>
    <dgm:pt modelId="{D6BEBD9F-3A7F-4F4C-B4C7-883FA6F34EBB}" type="pres">
      <dgm:prSet presAssocID="{7DE115AB-1581-4DF4-8C82-2955A9C56355}" presName="sibTrans" presStyleCnt="0"/>
      <dgm:spPr/>
    </dgm:pt>
    <dgm:pt modelId="{6BE7EA3B-8CDF-48B2-A4A1-CA565B21E52D}" type="pres">
      <dgm:prSet presAssocID="{01DE879A-933A-45B8-90D7-2CFE029E78C1}" presName="node" presStyleLbl="node1" presStyleIdx="3" presStyleCnt="4">
        <dgm:presLayoutVars>
          <dgm:bulletEnabled val="1"/>
        </dgm:presLayoutVars>
      </dgm:prSet>
      <dgm:spPr/>
    </dgm:pt>
  </dgm:ptLst>
  <dgm:cxnLst>
    <dgm:cxn modelId="{506D6710-2BBA-48C8-AEF7-8B4C750AFC34}" type="presOf" srcId="{8117C85A-B211-40BB-BF28-278BE984A34B}" destId="{548484D3-7F7B-4CAC-8F65-3612AFDBC495}" srcOrd="0" destOrd="0" presId="urn:microsoft.com/office/officeart/2005/8/layout/default"/>
    <dgm:cxn modelId="{E096BB12-B05D-43CA-90AF-C73F66A94B5A}" type="presOf" srcId="{1BBBA255-5E85-409F-879D-34C0A7C30F58}" destId="{4DD82BDC-8486-44D1-A41B-C21352F0B491}" srcOrd="0" destOrd="0" presId="urn:microsoft.com/office/officeart/2005/8/layout/default"/>
    <dgm:cxn modelId="{2574163E-340D-464F-939B-22850CD450B8}" type="presOf" srcId="{01DE879A-933A-45B8-90D7-2CFE029E78C1}" destId="{6BE7EA3B-8CDF-48B2-A4A1-CA565B21E52D}" srcOrd="0" destOrd="0" presId="urn:microsoft.com/office/officeart/2005/8/layout/default"/>
    <dgm:cxn modelId="{B83D576E-1F9E-4F74-B1C2-01BAA9596364}" srcId="{8117C85A-B211-40BB-BF28-278BE984A34B}" destId="{01DE879A-933A-45B8-90D7-2CFE029E78C1}" srcOrd="3" destOrd="0" parTransId="{8F2BE0EE-F85F-49E7-AA64-28A4EC60251E}" sibTransId="{9A48CA74-B8B4-4C75-8B6D-F3C724F0BFAD}"/>
    <dgm:cxn modelId="{7C18379F-BF97-44EB-B59A-BE4006722718}" srcId="{8117C85A-B211-40BB-BF28-278BE984A34B}" destId="{F48644C7-8852-4810-8301-30793962AB62}" srcOrd="1" destOrd="0" parTransId="{BC1CC95C-E752-4435-8D9F-B951FAAD010B}" sibTransId="{D0240F28-224F-4F94-BFEB-473E6112C05E}"/>
    <dgm:cxn modelId="{0F8741C1-A91C-46EC-9049-A9C2E21030CE}" srcId="{8117C85A-B211-40BB-BF28-278BE984A34B}" destId="{1BBBA255-5E85-409F-879D-34C0A7C30F58}" srcOrd="0" destOrd="0" parTransId="{B7FCA9DB-CD44-4CEE-B815-4A0F2455E6EF}" sibTransId="{98F57A27-9293-41B6-BE3F-B3C5C3AEC2E5}"/>
    <dgm:cxn modelId="{9F083FC7-C00F-43F6-BACF-EBF527A6DFE2}" type="presOf" srcId="{47F9C6AE-A7FA-433C-99D8-90ED75641973}" destId="{2BB9AC70-7704-4CE1-B3D6-9592A47E84F2}" srcOrd="0" destOrd="0" presId="urn:microsoft.com/office/officeart/2005/8/layout/default"/>
    <dgm:cxn modelId="{4F0EA4CF-4A7A-4616-A03B-C02B8EF153D3}" srcId="{8117C85A-B211-40BB-BF28-278BE984A34B}" destId="{47F9C6AE-A7FA-433C-99D8-90ED75641973}" srcOrd="2" destOrd="0" parTransId="{971195B1-FE01-4070-BE81-F7DB4D7CE9B4}" sibTransId="{7DE115AB-1581-4DF4-8C82-2955A9C56355}"/>
    <dgm:cxn modelId="{8BD677DE-B77E-4F36-ABE2-67C42F5A5D55}" type="presOf" srcId="{F48644C7-8852-4810-8301-30793962AB62}" destId="{1F71A863-6ACE-41E3-B3FF-D17A819775F7}" srcOrd="0" destOrd="0" presId="urn:microsoft.com/office/officeart/2005/8/layout/default"/>
    <dgm:cxn modelId="{CB439BF2-4F5E-4D17-B2C8-A18A5BB6751E}" type="presParOf" srcId="{548484D3-7F7B-4CAC-8F65-3612AFDBC495}" destId="{4DD82BDC-8486-44D1-A41B-C21352F0B491}" srcOrd="0" destOrd="0" presId="urn:microsoft.com/office/officeart/2005/8/layout/default"/>
    <dgm:cxn modelId="{9816AAB1-8FDE-4ED1-86F3-236905B67072}" type="presParOf" srcId="{548484D3-7F7B-4CAC-8F65-3612AFDBC495}" destId="{9EA4D270-7A40-44D2-9BE2-B00B19690BC8}" srcOrd="1" destOrd="0" presId="urn:microsoft.com/office/officeart/2005/8/layout/default"/>
    <dgm:cxn modelId="{C5399C94-62BB-4D6C-95CE-EE19290DE8EC}" type="presParOf" srcId="{548484D3-7F7B-4CAC-8F65-3612AFDBC495}" destId="{1F71A863-6ACE-41E3-B3FF-D17A819775F7}" srcOrd="2" destOrd="0" presId="urn:microsoft.com/office/officeart/2005/8/layout/default"/>
    <dgm:cxn modelId="{4E5451CE-0390-43B9-989D-F9E0A1862D5F}" type="presParOf" srcId="{548484D3-7F7B-4CAC-8F65-3612AFDBC495}" destId="{08A03855-D92D-436E-BDB1-5F71A7FAB7B7}" srcOrd="3" destOrd="0" presId="urn:microsoft.com/office/officeart/2005/8/layout/default"/>
    <dgm:cxn modelId="{7A586999-ED38-4D03-89E2-EDE6B71BA6DE}" type="presParOf" srcId="{548484D3-7F7B-4CAC-8F65-3612AFDBC495}" destId="{2BB9AC70-7704-4CE1-B3D6-9592A47E84F2}" srcOrd="4" destOrd="0" presId="urn:microsoft.com/office/officeart/2005/8/layout/default"/>
    <dgm:cxn modelId="{97399531-9264-421D-B176-F8B70C978C32}" type="presParOf" srcId="{548484D3-7F7B-4CAC-8F65-3612AFDBC495}" destId="{D6BEBD9F-3A7F-4F4C-B4C7-883FA6F34EBB}" srcOrd="5" destOrd="0" presId="urn:microsoft.com/office/officeart/2005/8/layout/default"/>
    <dgm:cxn modelId="{C85B5359-0515-4526-BE97-33552186F1E9}" type="presParOf" srcId="{548484D3-7F7B-4CAC-8F65-3612AFDBC495}" destId="{6BE7EA3B-8CDF-48B2-A4A1-CA565B21E52D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D82BDC-8486-44D1-A41B-C21352F0B491}">
      <dsp:nvSpPr>
        <dsp:cNvPr id="0" name=""/>
        <dsp:cNvSpPr/>
      </dsp:nvSpPr>
      <dsp:spPr>
        <a:xfrm>
          <a:off x="847" y="122686"/>
          <a:ext cx="3306030" cy="19836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High-Quality NL-CP </a:t>
          </a:r>
          <a:r>
            <a:rPr lang="en-US" sz="2900" b="1" kern="1200" dirty="0"/>
            <a:t>dataset</a:t>
          </a:r>
          <a:r>
            <a:rPr lang="en-US" sz="2900" kern="1200" dirty="0"/>
            <a:t>.</a:t>
          </a:r>
          <a:endParaRPr lang="en-BE" sz="2900" kern="1200" dirty="0"/>
        </a:p>
      </dsp:txBody>
      <dsp:txXfrm>
        <a:off x="847" y="122686"/>
        <a:ext cx="3306030" cy="1983618"/>
      </dsp:txXfrm>
    </dsp:sp>
    <dsp:sp modelId="{1F71A863-6ACE-41E3-B3FF-D17A819775F7}">
      <dsp:nvSpPr>
        <dsp:cNvPr id="0" name=""/>
        <dsp:cNvSpPr/>
      </dsp:nvSpPr>
      <dsp:spPr>
        <a:xfrm>
          <a:off x="3637481" y="122686"/>
          <a:ext cx="3306030" cy="1983618"/>
        </a:xfrm>
        <a:prstGeom prst="rect">
          <a:avLst/>
        </a:prstGeom>
        <a:solidFill>
          <a:schemeClr val="accent3">
            <a:hueOff val="1372388"/>
            <a:satOff val="8237"/>
            <a:lumOff val="627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Beyond ICL: Supervised </a:t>
          </a:r>
          <a:r>
            <a:rPr lang="en-US" sz="2900" b="1" kern="1200" dirty="0"/>
            <a:t>fine-tuning</a:t>
          </a:r>
          <a:r>
            <a:rPr lang="en-US" sz="2900" kern="1200" dirty="0"/>
            <a:t> of LLMs.</a:t>
          </a:r>
        </a:p>
      </dsp:txBody>
      <dsp:txXfrm>
        <a:off x="3637481" y="122686"/>
        <a:ext cx="3306030" cy="1983618"/>
      </dsp:txXfrm>
    </dsp:sp>
    <dsp:sp modelId="{2BB9AC70-7704-4CE1-B3D6-9592A47E84F2}">
      <dsp:nvSpPr>
        <dsp:cNvPr id="0" name=""/>
        <dsp:cNvSpPr/>
      </dsp:nvSpPr>
      <dsp:spPr>
        <a:xfrm>
          <a:off x="847" y="2436908"/>
          <a:ext cx="3306030" cy="1983618"/>
        </a:xfrm>
        <a:prstGeom prst="rect">
          <a:avLst/>
        </a:prstGeom>
        <a:solidFill>
          <a:schemeClr val="accent3">
            <a:hueOff val="2744775"/>
            <a:satOff val="16475"/>
            <a:lumOff val="1255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Integrate techniques from LLMs </a:t>
          </a:r>
          <a:r>
            <a:rPr lang="en-US" sz="2900" b="1" kern="1200" dirty="0"/>
            <a:t>coding assistants</a:t>
          </a:r>
          <a:r>
            <a:rPr lang="en-US" sz="2900" kern="1200" dirty="0"/>
            <a:t>.</a:t>
          </a:r>
        </a:p>
      </dsp:txBody>
      <dsp:txXfrm>
        <a:off x="847" y="2436908"/>
        <a:ext cx="3306030" cy="1983618"/>
      </dsp:txXfrm>
    </dsp:sp>
    <dsp:sp modelId="{6BE7EA3B-8CDF-48B2-A4A1-CA565B21E52D}">
      <dsp:nvSpPr>
        <dsp:cNvPr id="0" name=""/>
        <dsp:cNvSpPr/>
      </dsp:nvSpPr>
      <dsp:spPr>
        <a:xfrm>
          <a:off x="3637481" y="2436908"/>
          <a:ext cx="3306030" cy="1983618"/>
        </a:xfrm>
        <a:prstGeom prst="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Multi-turn </a:t>
          </a:r>
          <a:r>
            <a:rPr lang="en-US" sz="2900" b="1" kern="1200" dirty="0"/>
            <a:t>interactive</a:t>
          </a:r>
          <a:r>
            <a:rPr lang="en-US" sz="2900" kern="1200" dirty="0"/>
            <a:t> modelling system.</a:t>
          </a:r>
        </a:p>
      </dsp:txBody>
      <dsp:txXfrm>
        <a:off x="3637481" y="2436908"/>
        <a:ext cx="3306030" cy="19836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D2D05-AE1C-C64E-BD67-759A9B2030C0}" type="datetimeFigureOut">
              <a:rPr lang="en-BE" smtClean="0"/>
              <a:t>25/02/2025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65125A-67AA-7740-8E7A-E672B397AFD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88349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5125A-67AA-7740-8E7A-E672B397AFDD}" type="slidenum">
              <a:rPr lang="en-BE" smtClean="0"/>
              <a:t>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57054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6CC96-713D-1D73-6F45-006B320B5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8B4738-4116-ED09-CE9D-3BAC5FB0B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F54AC-E102-FB1D-F48E-8300822F7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52B58-6F64-584F-A20F-D9ACDBE3AF95}" type="datetime1">
              <a:rPr lang="en-US" smtClean="0"/>
              <a:t>2/25/2025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F71A0-8E08-8E13-FCB3-32B721511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6A4EF-81E1-3A6E-30FA-57C05B2B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2180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EDF3D-C246-C6EE-908E-7AFBF17EC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99458-DA12-D62A-392A-81D8F1A3D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84FA2-44DC-CC64-3D76-4232B413C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5CF5-AEF0-D74E-8379-02C383D81DCA}" type="datetime1">
              <a:rPr lang="en-US" smtClean="0"/>
              <a:t>2/25/2025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D3BFB-4935-F217-75DC-2B2F64A1C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4605C-B553-5AED-DF31-CEE5AD114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6412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13B1A-2527-538B-5F28-6A09E4F57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D8D9E-16ED-6D44-74E6-BA32ACEDF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373A3-DEAE-458E-D769-9DC3342EE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01F5-1BE1-B145-AB5A-56716F3F9553}" type="datetime1">
              <a:rPr lang="en-US" smtClean="0"/>
              <a:t>2/25/2025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ED5C6-D368-E325-C83B-ACFAADF71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9D0B6-2E58-00D4-62E5-8CB992919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17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E7E4D-4C07-C3A0-7CDD-E36FC593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AA994-CECD-D608-03EA-2E8726785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9BA394-3951-6AFE-340B-189DD8E26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39876-D058-94FF-A1DB-8597A2F7D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50528-88C7-C146-9FC5-C9CFF3C5206C}" type="datetime1">
              <a:rPr lang="en-US" smtClean="0"/>
              <a:t>2/25/2025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16DF4-EF69-21C2-0A5E-2AA74DF3B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E3310A1-29CC-2ACA-9A52-479C4D4A2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DBAA2281-D826-45A5-9E06-A1209B7AE909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220061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7483F-7A71-EC67-C9B3-B8BBE7B0C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CA59-E8D1-82B2-31C4-58046BBD5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E7B44-8A33-4C59-0C7F-C1EA3EEA7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777386-A69D-6937-F069-F65D58C3F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142301-9058-783B-A3FC-BC07CCF84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C368A7-CAA8-9783-ED95-25BB7AE7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4A25-B2CB-4C4F-8209-75648C11685A}" type="datetime1">
              <a:rPr lang="en-US" smtClean="0"/>
              <a:t>2/25/2025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3E047-2767-15F5-283B-57715CB0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42C014-49D2-9D35-3D5D-1722B67FF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6514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9B582-52C9-6C08-882E-E1F6052FF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52349D-ED20-2F3E-507C-4D4B74E45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BF0D-9148-7B45-8A40-8241F0D80216}" type="datetime1">
              <a:rPr lang="en-US" smtClean="0"/>
              <a:t>2/25/2025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C6BB13-D312-C27A-2BD9-058E3412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B3CC2-63FD-4461-C3CB-5569DE0B8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04754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DF08AE-986E-9297-6398-E7D409878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5964-5D9A-FC41-AEED-B66968114EE1}" type="datetime1">
              <a:rPr lang="en-US" smtClean="0"/>
              <a:t>2/25/2025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8B52BE-873D-C069-851E-945480C5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517B1-6D33-D20F-D0A4-9F4681A99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55699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03C5B-AC57-F8D8-AC45-91C10F807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53C1E-0313-D796-1DB7-5CBF66D83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8F845-575B-2B85-A02B-76C88FA7B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B60C5-83D6-1693-C274-BB45F460C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29E3-A617-734B-8E6B-1976140319A8}" type="datetime1">
              <a:rPr lang="en-US" smtClean="0"/>
              <a:t>2/25/2025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EE7FF-3AA7-296B-E475-3CD23DE21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05D35-8A2D-02E4-FEC5-E6440E5BA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64499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A0FEF-BE1C-47AE-89E3-3A56EDC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9D8342-F6FB-7F60-2324-63C29A53AD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6A56F-9A81-99A3-E62F-CB7278FA9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897FC-1678-C41C-71C4-A715431EF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B45B1-4801-9D4D-87A8-7F7D98D9491B}" type="datetime1">
              <a:rPr lang="en-US" smtClean="0"/>
              <a:t>2/25/2025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4A196-9A4B-AB05-457C-B2FBBB504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7FDC5-E4CD-32F6-CE14-B23E7944B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40358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1FBFF9-28DE-04E9-3822-F2D1D0E7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5080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A3DC8-189F-015F-B31B-40AEB1401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F1DE8-AFEA-5466-9765-7B11A1485D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86E285-9D97-9D42-9F55-CCC959B88191}" type="datetime1">
              <a:rPr lang="en-US" smtClean="0"/>
              <a:t>2/25/2025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6D32-1CDD-4261-B1E4-E8AD0948F7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F1F81-E0AD-AAC4-7FB4-98AA95F09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AA2281-D826-45A5-9E06-A1209B7AE909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04276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028" r:id="rId2"/>
    <p:sldLayoutId id="2147484029" r:id="rId3"/>
    <p:sldLayoutId id="2147484030" r:id="rId4"/>
    <p:sldLayoutId id="2147484031" r:id="rId5"/>
    <p:sldLayoutId id="2147484032" r:id="rId6"/>
    <p:sldLayoutId id="2147484033" r:id="rId7"/>
    <p:sldLayoutId id="2147484034" r:id="rId8"/>
    <p:sldLayoutId id="214748403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hakank.org/minizinc/movie_scheduling.mzn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www.hakank.org/minizinc/movie_scheduling.mzn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sv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10" Type="http://schemas.openxmlformats.org/officeDocument/2006/relationships/image" Target="../media/image34.sv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66.png"/><Relationship Id="rId7" Type="http://schemas.openxmlformats.org/officeDocument/2006/relationships/image" Target="../media/image4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4.png"/><Relationship Id="rId7" Type="http://schemas.openxmlformats.org/officeDocument/2006/relationships/image" Target="../media/image7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7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8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7" Type="http://schemas.openxmlformats.org/officeDocument/2006/relationships/image" Target="../media/image63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hyperlink" Target="https://chatopt.cs.kuleuven.be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1661E-A3A4-DB41-BB9C-25587341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376" y="1773240"/>
            <a:ext cx="10605247" cy="1655760"/>
          </a:xfrm>
        </p:spPr>
        <p:txBody>
          <a:bodyPr>
            <a:normAutofit fontScale="90000"/>
          </a:bodyPr>
          <a:lstStyle/>
          <a:p>
            <a:r>
              <a:rPr lang="en-GB" dirty="0"/>
              <a:t>Constraint Modelling with LLMs Using In-Context Learning</a:t>
            </a:r>
            <a:endParaRPr lang="en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DB266C-3A1C-1668-2D6C-F2FFD9ED1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28950" y="4681870"/>
            <a:ext cx="8571273" cy="783681"/>
          </a:xfrm>
        </p:spPr>
        <p:txBody>
          <a:bodyPr anchor="ctr">
            <a:normAutofit/>
          </a:bodyPr>
          <a:lstStyle/>
          <a:p>
            <a:pPr algn="r"/>
            <a:r>
              <a:rPr lang="en-US" sz="3200" dirty="0"/>
              <a:t>Kostis Michailidis, Dimos Tsouros, Tias Guns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673AD90-C4C0-3E0F-28BF-F8F5752B4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6666" y="5695854"/>
            <a:ext cx="2593557" cy="9153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757EED-73B2-B2AD-C2BA-911F525E6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988" y="5677786"/>
            <a:ext cx="1637039" cy="933441"/>
          </a:xfrm>
          <a:prstGeom prst="rect">
            <a:avLst/>
          </a:prstGeom>
        </p:spPr>
      </p:pic>
      <p:pic>
        <p:nvPicPr>
          <p:cNvPr id="8" name="Picture 7" descr="A black and white image of a person and a phone&#10;&#10;Description automatically generated">
            <a:extLst>
              <a:ext uri="{FF2B5EF4-FFF2-40B4-BE49-F238E27FC236}">
                <a16:creationId xmlns:a16="http://schemas.microsoft.com/office/drawing/2014/main" id="{21F2F43A-32E6-E9EF-416F-CCB7ECFEA3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319" y="5677786"/>
            <a:ext cx="1009156" cy="917185"/>
          </a:xfrm>
          <a:prstGeom prst="rect">
            <a:avLst/>
          </a:prstGeom>
        </p:spPr>
      </p:pic>
      <p:pic>
        <p:nvPicPr>
          <p:cNvPr id="9" name="Picture 8" descr="A blue flag with yellow stars and a black text&#10;&#10;Description automatically generated">
            <a:extLst>
              <a:ext uri="{FF2B5EF4-FFF2-40B4-BE49-F238E27FC236}">
                <a16:creationId xmlns:a16="http://schemas.microsoft.com/office/drawing/2014/main" id="{FCFF7379-25DD-E0DC-79B3-F6EC478B0AF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716" t="25006" r="2228" b="22025"/>
          <a:stretch/>
        </p:blipFill>
        <p:spPr>
          <a:xfrm>
            <a:off x="2484178" y="5827546"/>
            <a:ext cx="2039628" cy="78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351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4AD44-A6EC-7B4D-179F-ADD0E8D9D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Constraint Modelling: An Example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BBED9-2FE2-64A6-759B-BAF79B83B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712265"/>
            <a:ext cx="4710954" cy="14522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800" b="1"/>
              <a:t>Context:</a:t>
            </a:r>
            <a:r>
              <a:rPr lang="en-GB" sz="1800"/>
              <a:t> A popular actor with many offers.</a:t>
            </a:r>
          </a:p>
          <a:p>
            <a:pPr marL="0" indent="0">
              <a:buNone/>
            </a:pPr>
            <a:r>
              <a:rPr lang="en-GB" sz="1800" b="1"/>
              <a:t>Requirement 1:</a:t>
            </a:r>
            <a:r>
              <a:rPr lang="en-GB" sz="1800"/>
              <a:t> Only one movie per day.</a:t>
            </a:r>
          </a:p>
          <a:p>
            <a:pPr marL="0" indent="0">
              <a:buNone/>
            </a:pPr>
            <a:r>
              <a:rPr lang="en-GB" sz="1800" b="1"/>
              <a:t>Requirement 2:</a:t>
            </a:r>
            <a:r>
              <a:rPr lang="en-GB" sz="1800"/>
              <a:t> Maximize income.</a:t>
            </a:r>
          </a:p>
          <a:p>
            <a:pPr marL="0" indent="0">
              <a:buNone/>
            </a:pPr>
            <a:r>
              <a:rPr lang="en-GB" sz="1800" u="sng"/>
              <a:t>Which movies to choose?</a:t>
            </a:r>
          </a:p>
          <a:p>
            <a:endParaRPr lang="en-BE" sz="1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A0062-2A22-1E5C-C604-07FA3AA7A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2</a:t>
            </a:fld>
            <a:endParaRPr lang="en-BE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8976D0-121B-B44C-F3A6-3308558DD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46823"/>
              </p:ext>
            </p:extLst>
          </p:nvPr>
        </p:nvGraphicFramePr>
        <p:xfrm>
          <a:off x="838199" y="3176775"/>
          <a:ext cx="4576483" cy="2970400"/>
        </p:xfrm>
        <a:graphic>
          <a:graphicData uri="http://schemas.openxmlformats.org/drawingml/2006/table">
            <a:tbl>
              <a:tblPr firstRow="1" firstCol="1" bandRow="1">
                <a:tableStyleId>{91EBBBCC-DAD2-459C-BE2E-F6DE35CF9A28}</a:tableStyleId>
              </a:tblPr>
              <a:tblGrid>
                <a:gridCol w="246530">
                  <a:extLst>
                    <a:ext uri="{9D8B030D-6E8A-4147-A177-3AD203B41FA5}">
                      <a16:colId xmlns:a16="http://schemas.microsoft.com/office/drawing/2014/main" val="730323630"/>
                    </a:ext>
                  </a:extLst>
                </a:gridCol>
                <a:gridCol w="2309824">
                  <a:extLst>
                    <a:ext uri="{9D8B030D-6E8A-4147-A177-3AD203B41FA5}">
                      <a16:colId xmlns:a16="http://schemas.microsoft.com/office/drawing/2014/main" val="1477052884"/>
                    </a:ext>
                  </a:extLst>
                </a:gridCol>
                <a:gridCol w="1051941">
                  <a:extLst>
                    <a:ext uri="{9D8B030D-6E8A-4147-A177-3AD203B41FA5}">
                      <a16:colId xmlns:a16="http://schemas.microsoft.com/office/drawing/2014/main" val="968264253"/>
                    </a:ext>
                  </a:extLst>
                </a:gridCol>
                <a:gridCol w="968188">
                  <a:extLst>
                    <a:ext uri="{9D8B030D-6E8A-4147-A177-3AD203B41FA5}">
                      <a16:colId xmlns:a16="http://schemas.microsoft.com/office/drawing/2014/main" val="3566738200"/>
                    </a:ext>
                  </a:extLst>
                </a:gridCol>
              </a:tblGrid>
              <a:tr h="282127">
                <a:tc>
                  <a:txBody>
                    <a:bodyPr/>
                    <a:lstStyle/>
                    <a:p>
                      <a:pPr fontAlgn="b"/>
                      <a:endParaRPr lang="en-US" sz="1400" b="1">
                        <a:effectLst/>
                      </a:endParaRPr>
                    </a:p>
                  </a:txBody>
                  <a:tcPr marL="83680" marR="83680" marT="41840" marB="4184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>
                          <a:effectLst/>
                        </a:rPr>
                        <a:t>Movie Title</a:t>
                      </a:r>
                    </a:p>
                  </a:txBody>
                  <a:tcPr marL="83680" marR="83680" marT="41840" marB="4184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400" b="1">
                          <a:effectLst/>
                        </a:rPr>
                        <a:t>Start Day</a:t>
                      </a:r>
                    </a:p>
                  </a:txBody>
                  <a:tcPr marL="83680" marR="83680" marT="41840" marB="4184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400" b="1">
                          <a:effectLst/>
                        </a:rPr>
                        <a:t>End Day</a:t>
                      </a:r>
                    </a:p>
                  </a:txBody>
                  <a:tcPr marL="83680" marR="83680" marT="41840" marB="41840" anchor="b"/>
                </a:tc>
                <a:extLst>
                  <a:ext uri="{0D108BD9-81ED-4DB2-BD59-A6C34878D82A}">
                    <a16:rowId xmlns:a16="http://schemas.microsoft.com/office/drawing/2014/main" val="713704790"/>
                  </a:ext>
                </a:extLst>
              </a:tr>
              <a:tr h="282127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Tarjan of the Jungle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13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201009042"/>
                  </a:ext>
                </a:extLst>
              </a:tr>
              <a:tr h="282127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The Four Volume Problem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17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27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339220033"/>
                  </a:ext>
                </a:extLst>
              </a:tr>
              <a:tr h="282127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The President's Algorist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10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221832779"/>
                  </a:ext>
                </a:extLst>
              </a:tr>
              <a:tr h="282127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Steiner's Tree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12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18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76337706"/>
                  </a:ext>
                </a:extLst>
              </a:tr>
              <a:tr h="282127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Process Terminated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23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30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198511967"/>
                  </a:ext>
                </a:extLst>
              </a:tr>
              <a:tr h="282127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Halting State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9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16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269722453"/>
                  </a:ext>
                </a:extLst>
              </a:tr>
              <a:tr h="282127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6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Programming Challenges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19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25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863049179"/>
                  </a:ext>
                </a:extLst>
              </a:tr>
              <a:tr h="282127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7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Discrete Mathematics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7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188196149"/>
                  </a:ext>
                </a:extLst>
              </a:tr>
              <a:tr h="282127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8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Calculated Bets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26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31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2297689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77711D4-59F2-2260-00F3-9576BF89D00B}"/>
              </a:ext>
            </a:extLst>
          </p:cNvPr>
          <p:cNvSpPr txBox="1"/>
          <p:nvPr/>
        </p:nvSpPr>
        <p:spPr>
          <a:xfrm>
            <a:off x="838199" y="6352142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/>
              <a:t>Source: </a:t>
            </a:r>
            <a:r>
              <a:rPr lang="fr-FR" sz="900">
                <a:hlinkClick r:id="rId2"/>
              </a:rPr>
              <a:t>http://www.hakank.org/minizinc/movie_scheduling.mzn</a:t>
            </a:r>
            <a:endParaRPr lang="fr-FR" sz="900"/>
          </a:p>
          <a:p>
            <a:r>
              <a:rPr lang="en-US" sz="900"/>
              <a:t>Source description: Steven S. </a:t>
            </a:r>
            <a:r>
              <a:rPr lang="en-US" sz="900" err="1"/>
              <a:t>Skiena's</a:t>
            </a:r>
            <a:r>
              <a:rPr lang="en-US" sz="900"/>
              <a:t> The Algorithm Design Manual</a:t>
            </a:r>
            <a:endParaRPr lang="en-BE" sz="90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67AB93-63D8-1C03-F1D4-F47F16096D1D}"/>
              </a:ext>
            </a:extLst>
          </p:cNvPr>
          <p:cNvCxnSpPr>
            <a:cxnSpLocks/>
          </p:cNvCxnSpPr>
          <p:nvPr/>
        </p:nvCxnSpPr>
        <p:spPr>
          <a:xfrm>
            <a:off x="5791200" y="3622711"/>
            <a:ext cx="117986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EC328A-B0B1-413E-8E0C-ED4317597599}"/>
                  </a:ext>
                </a:extLst>
              </p:cNvPr>
              <p:cNvSpPr txBox="1"/>
              <p:nvPr/>
            </p:nvSpPr>
            <p:spPr>
              <a:xfrm>
                <a:off x="7347578" y="2049837"/>
                <a:ext cx="3723834" cy="3947363"/>
              </a:xfrm>
              <a:prstGeom prst="rect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/>
                  <a:t>Decision Variables:</a:t>
                </a:r>
                <a:endParaRPr lang="en-US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𝑜𝑣𝑖𝑒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𝑚𝑜𝑣𝑖𝑒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,…,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𝑚𝑜𝑣𝑖𝑒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r>
                  <a:rPr lang="en-US" b="1"/>
                  <a:t>Domain:</a:t>
                </a:r>
                <a:endParaRPr lang="en-US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𝑜𝑣𝑖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𝑒𝑠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r>
                  <a:rPr lang="en-US" b="1"/>
                  <a:t>Constraints:</a:t>
                </a:r>
                <a:endParaRPr lang="en-US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𝑜𝑣𝑖𝑒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𝑚𝑜𝑣𝑖𝑒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b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𝑜𝑣𝑖𝑒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𝑚𝑜𝑣𝑖𝑒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b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𝑜𝑣𝑖𝑒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𝑚𝑜𝑣𝑖𝑒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0"/>
                  <a:t>[…]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𝑜𝑣𝑖𝑒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𝑚𝑜𝑣𝑖𝑒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/>
              </a:p>
              <a:p>
                <a:r>
                  <a:rPr lang="en-US" b="1"/>
                  <a:t>Objective:</a:t>
                </a:r>
                <a:endParaRPr lang="en-US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⁡(</m:t>
                      </m:r>
                      <m:nary>
                        <m:naryPr>
                          <m:chr m:val="∑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𝑚𝑜𝑣𝑖𝑒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EC328A-B0B1-413E-8E0C-ED4317597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578" y="2049837"/>
                <a:ext cx="3723834" cy="3947363"/>
              </a:xfrm>
              <a:prstGeom prst="rect">
                <a:avLst/>
              </a:prstGeom>
              <a:blipFill>
                <a:blip r:embed="rId3"/>
                <a:stretch>
                  <a:fillRect l="-321"/>
                </a:stretch>
              </a:blipFill>
              <a:ln w="762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Graphic 13" descr="User outline">
            <a:extLst>
              <a:ext uri="{FF2B5EF4-FFF2-40B4-BE49-F238E27FC236}">
                <a16:creationId xmlns:a16="http://schemas.microsoft.com/office/drawing/2014/main" id="{A68F72AB-5218-5D5C-D9BF-0F70D925A6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1200" y="3795695"/>
            <a:ext cx="1179860" cy="11798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E4A2CD1-B7AD-BE2A-A18F-D8391FBB3C57}"/>
              </a:ext>
            </a:extLst>
          </p:cNvPr>
          <p:cNvSpPr txBox="1"/>
          <p:nvPr/>
        </p:nvSpPr>
        <p:spPr>
          <a:xfrm>
            <a:off x="5791200" y="4886928"/>
            <a:ext cx="117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2800"/>
              <a:t>Expert</a:t>
            </a:r>
          </a:p>
        </p:txBody>
      </p:sp>
    </p:spTree>
    <p:extLst>
      <p:ext uri="{BB962C8B-B14F-4D97-AF65-F5344CB8AC3E}">
        <p14:creationId xmlns:p14="http://schemas.microsoft.com/office/powerpoint/2010/main" val="192069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4AD44-A6EC-7B4D-179F-ADD0E8D9D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Constraint Modelling: An Example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A0062-2A22-1E5C-C604-07FA3AA7A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3</a:t>
            </a:fld>
            <a:endParaRPr lang="en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7711D4-59F2-2260-00F3-9576BF89D00B}"/>
              </a:ext>
            </a:extLst>
          </p:cNvPr>
          <p:cNvSpPr txBox="1"/>
          <p:nvPr/>
        </p:nvSpPr>
        <p:spPr>
          <a:xfrm>
            <a:off x="838199" y="6352142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Source: </a:t>
            </a:r>
            <a:r>
              <a:rPr lang="fr-FR" sz="900" dirty="0">
                <a:hlinkClick r:id="rId2"/>
              </a:rPr>
              <a:t>http://www.hakank.org/minizinc/movie_scheduling.mzn</a:t>
            </a:r>
            <a:endParaRPr lang="fr-FR" sz="900" dirty="0"/>
          </a:p>
          <a:p>
            <a:r>
              <a:rPr lang="en-US" sz="900" dirty="0"/>
              <a:t>Source description: Steven S. </a:t>
            </a:r>
            <a:r>
              <a:rPr lang="en-US" sz="900" dirty="0" err="1"/>
              <a:t>Skiena's</a:t>
            </a:r>
            <a:r>
              <a:rPr lang="en-US" sz="900" dirty="0"/>
              <a:t> The Algorithm Design Manual</a:t>
            </a:r>
            <a:endParaRPr lang="en-BE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EEDE8A-96A9-0855-03DD-CBE68CD29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481" y="1954308"/>
            <a:ext cx="4973849" cy="416597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C9EAA60-6B60-8351-56D0-921F791677C9}"/>
              </a:ext>
            </a:extLst>
          </p:cNvPr>
          <p:cNvSpPr/>
          <p:nvPr/>
        </p:nvSpPr>
        <p:spPr>
          <a:xfrm>
            <a:off x="6971061" y="5522267"/>
            <a:ext cx="3517646" cy="615943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D84F913-752B-A156-8230-805E58999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02578"/>
              </p:ext>
            </p:extLst>
          </p:nvPr>
        </p:nvGraphicFramePr>
        <p:xfrm>
          <a:off x="838199" y="3176775"/>
          <a:ext cx="4576483" cy="2970400"/>
        </p:xfrm>
        <a:graphic>
          <a:graphicData uri="http://schemas.openxmlformats.org/drawingml/2006/table">
            <a:tbl>
              <a:tblPr firstRow="1" firstCol="1" bandRow="1">
                <a:tableStyleId>{91EBBBCC-DAD2-459C-BE2E-F6DE35CF9A28}</a:tableStyleId>
              </a:tblPr>
              <a:tblGrid>
                <a:gridCol w="246530">
                  <a:extLst>
                    <a:ext uri="{9D8B030D-6E8A-4147-A177-3AD203B41FA5}">
                      <a16:colId xmlns:a16="http://schemas.microsoft.com/office/drawing/2014/main" val="730323630"/>
                    </a:ext>
                  </a:extLst>
                </a:gridCol>
                <a:gridCol w="2309824">
                  <a:extLst>
                    <a:ext uri="{9D8B030D-6E8A-4147-A177-3AD203B41FA5}">
                      <a16:colId xmlns:a16="http://schemas.microsoft.com/office/drawing/2014/main" val="1477052884"/>
                    </a:ext>
                  </a:extLst>
                </a:gridCol>
                <a:gridCol w="1051941">
                  <a:extLst>
                    <a:ext uri="{9D8B030D-6E8A-4147-A177-3AD203B41FA5}">
                      <a16:colId xmlns:a16="http://schemas.microsoft.com/office/drawing/2014/main" val="968264253"/>
                    </a:ext>
                  </a:extLst>
                </a:gridCol>
                <a:gridCol w="968188">
                  <a:extLst>
                    <a:ext uri="{9D8B030D-6E8A-4147-A177-3AD203B41FA5}">
                      <a16:colId xmlns:a16="http://schemas.microsoft.com/office/drawing/2014/main" val="3566738200"/>
                    </a:ext>
                  </a:extLst>
                </a:gridCol>
              </a:tblGrid>
              <a:tr h="282127">
                <a:tc>
                  <a:txBody>
                    <a:bodyPr/>
                    <a:lstStyle/>
                    <a:p>
                      <a:pPr fontAlgn="b"/>
                      <a:endParaRPr lang="en-US" sz="1400" b="1">
                        <a:effectLst/>
                      </a:endParaRPr>
                    </a:p>
                  </a:txBody>
                  <a:tcPr marL="83680" marR="83680" marT="41840" marB="4184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>
                          <a:effectLst/>
                        </a:rPr>
                        <a:t>Movie Title</a:t>
                      </a:r>
                    </a:p>
                  </a:txBody>
                  <a:tcPr marL="83680" marR="83680" marT="41840" marB="4184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400" b="1">
                          <a:effectLst/>
                        </a:rPr>
                        <a:t>Start Day</a:t>
                      </a:r>
                    </a:p>
                  </a:txBody>
                  <a:tcPr marL="83680" marR="83680" marT="41840" marB="41840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400" b="1">
                          <a:effectLst/>
                        </a:rPr>
                        <a:t>End Day</a:t>
                      </a:r>
                    </a:p>
                  </a:txBody>
                  <a:tcPr marL="83680" marR="83680" marT="41840" marB="41840" anchor="b"/>
                </a:tc>
                <a:extLst>
                  <a:ext uri="{0D108BD9-81ED-4DB2-BD59-A6C34878D82A}">
                    <a16:rowId xmlns:a16="http://schemas.microsoft.com/office/drawing/2014/main" val="713704790"/>
                  </a:ext>
                </a:extLst>
              </a:tr>
              <a:tr h="282127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Tarjan of the Jungle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13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201009042"/>
                  </a:ext>
                </a:extLst>
              </a:tr>
              <a:tr h="282127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The Four Volume Problem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17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27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339220033"/>
                  </a:ext>
                </a:extLst>
              </a:tr>
              <a:tr h="282127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The President's Algorist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10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221832779"/>
                  </a:ext>
                </a:extLst>
              </a:tr>
              <a:tr h="282127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Steiner's Tree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12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18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76337706"/>
                  </a:ext>
                </a:extLst>
              </a:tr>
              <a:tr h="282127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Process Terminated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23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30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198511967"/>
                  </a:ext>
                </a:extLst>
              </a:tr>
              <a:tr h="282127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Halting State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9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16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269722453"/>
                  </a:ext>
                </a:extLst>
              </a:tr>
              <a:tr h="282127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6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Programming Challenges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19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25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863049179"/>
                  </a:ext>
                </a:extLst>
              </a:tr>
              <a:tr h="282127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7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Discrete Mathematics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7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188196149"/>
                  </a:ext>
                </a:extLst>
              </a:tr>
              <a:tr h="282127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</a:rPr>
                        <a:t>8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>
                          <a:effectLst/>
                        </a:rPr>
                        <a:t>Calculated Bets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26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sz="1400">
                          <a:effectLst/>
                        </a:rPr>
                        <a:t>31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229768958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C0ED24B-28D9-D292-03FD-C677D0A0F32B}"/>
              </a:ext>
            </a:extLst>
          </p:cNvPr>
          <p:cNvSpPr/>
          <p:nvPr/>
        </p:nvSpPr>
        <p:spPr>
          <a:xfrm>
            <a:off x="779931" y="4971135"/>
            <a:ext cx="4715080" cy="1136622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16" name="Graphic 15" descr="User outline">
            <a:extLst>
              <a:ext uri="{FF2B5EF4-FFF2-40B4-BE49-F238E27FC236}">
                <a16:creationId xmlns:a16="http://schemas.microsoft.com/office/drawing/2014/main" id="{ED6F26E8-0D6C-5044-D2BA-AE466E22B2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1200" y="3795695"/>
            <a:ext cx="1179860" cy="117986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33AFE2A-A19C-5003-CE6A-8644DC37B73D}"/>
              </a:ext>
            </a:extLst>
          </p:cNvPr>
          <p:cNvCxnSpPr>
            <a:cxnSpLocks/>
          </p:cNvCxnSpPr>
          <p:nvPr/>
        </p:nvCxnSpPr>
        <p:spPr>
          <a:xfrm>
            <a:off x="5791200" y="3622711"/>
            <a:ext cx="117986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E78E599-53AC-D9AA-1830-65834A0EE3F2}"/>
              </a:ext>
            </a:extLst>
          </p:cNvPr>
          <p:cNvSpPr txBox="1"/>
          <p:nvPr/>
        </p:nvSpPr>
        <p:spPr>
          <a:xfrm>
            <a:off x="5791200" y="4886928"/>
            <a:ext cx="117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2800" dirty="0"/>
              <a:t>Expert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3EACDEC-57A1-F33C-3060-D0E3F7AC0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712265"/>
            <a:ext cx="4710954" cy="14522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800" b="1"/>
              <a:t>Context:</a:t>
            </a:r>
            <a:r>
              <a:rPr lang="en-GB" sz="1800"/>
              <a:t> A popular actor with many offers.</a:t>
            </a:r>
          </a:p>
          <a:p>
            <a:pPr marL="0" indent="0">
              <a:buNone/>
            </a:pPr>
            <a:r>
              <a:rPr lang="en-GB" sz="1800" b="1"/>
              <a:t>Requirement 1:</a:t>
            </a:r>
            <a:r>
              <a:rPr lang="en-GB" sz="1800"/>
              <a:t> Only one movie per day.</a:t>
            </a:r>
          </a:p>
          <a:p>
            <a:pPr marL="0" indent="0">
              <a:buNone/>
            </a:pPr>
            <a:r>
              <a:rPr lang="en-GB" sz="1800" b="1"/>
              <a:t>Requirement 2:</a:t>
            </a:r>
            <a:r>
              <a:rPr lang="en-GB" sz="1800"/>
              <a:t> Maximize income.</a:t>
            </a:r>
          </a:p>
          <a:p>
            <a:pPr marL="0" indent="0">
              <a:buNone/>
            </a:pPr>
            <a:r>
              <a:rPr lang="en-GB" sz="1800" u="sng"/>
              <a:t>Which movies to choose?</a:t>
            </a:r>
          </a:p>
          <a:p>
            <a:endParaRPr lang="en-BE" sz="1800"/>
          </a:p>
        </p:txBody>
      </p:sp>
    </p:spTree>
    <p:extLst>
      <p:ext uri="{BB962C8B-B14F-4D97-AF65-F5344CB8AC3E}">
        <p14:creationId xmlns:p14="http://schemas.microsoft.com/office/powerpoint/2010/main" val="190816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1379CF-7A6D-3C89-83A4-BAB46A1DA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4</a:t>
            </a:fld>
            <a:endParaRPr lang="en-B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BDBB1B-461B-BF74-BE4E-DD22B615CDE1}"/>
              </a:ext>
            </a:extLst>
          </p:cNvPr>
          <p:cNvSpPr txBox="1"/>
          <p:nvPr/>
        </p:nvSpPr>
        <p:spPr>
          <a:xfrm>
            <a:off x="1142824" y="5794393"/>
            <a:ext cx="35166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Image created using OpenAI's ChatGPT.</a:t>
            </a:r>
            <a:endParaRPr lang="en-BE" sz="1600" dirty="0"/>
          </a:p>
        </p:txBody>
      </p:sp>
      <p:pic>
        <p:nvPicPr>
          <p:cNvPr id="14" name="Content Placeholder 13" descr="A person and person sitting at a table with papers&#10;&#10;Description automatically generated">
            <a:extLst>
              <a:ext uri="{FF2B5EF4-FFF2-40B4-BE49-F238E27FC236}">
                <a16:creationId xmlns:a16="http://schemas.microsoft.com/office/drawing/2014/main" id="{46781BCD-67E7-1615-CCDB-7D4A37FBF9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684" y="1443055"/>
            <a:ext cx="4351338" cy="4351338"/>
          </a:xfrm>
        </p:spPr>
      </p:pic>
      <p:sp>
        <p:nvSpPr>
          <p:cNvPr id="17" name="Oval Callout 16">
            <a:extLst>
              <a:ext uri="{FF2B5EF4-FFF2-40B4-BE49-F238E27FC236}">
                <a16:creationId xmlns:a16="http://schemas.microsoft.com/office/drawing/2014/main" id="{574EFFBB-E61C-8C2B-B6FF-4A56829E307D}"/>
              </a:ext>
            </a:extLst>
          </p:cNvPr>
          <p:cNvSpPr/>
          <p:nvPr/>
        </p:nvSpPr>
        <p:spPr>
          <a:xfrm>
            <a:off x="126478" y="108991"/>
            <a:ext cx="2104411" cy="847607"/>
          </a:xfrm>
          <a:prstGeom prst="wedgeEllipseCallout">
            <a:avLst>
              <a:gd name="adj1" fmla="val 13209"/>
              <a:gd name="adj2" fmla="val 107945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E" sz="2400" dirty="0"/>
              <a:t>How to decide?</a:t>
            </a:r>
          </a:p>
        </p:txBody>
      </p:sp>
      <p:sp>
        <p:nvSpPr>
          <p:cNvPr id="18" name="Oval Callout 17">
            <a:extLst>
              <a:ext uri="{FF2B5EF4-FFF2-40B4-BE49-F238E27FC236}">
                <a16:creationId xmlns:a16="http://schemas.microsoft.com/office/drawing/2014/main" id="{4E0A158A-2EB6-D413-0114-53067FC597BA}"/>
              </a:ext>
            </a:extLst>
          </p:cNvPr>
          <p:cNvSpPr/>
          <p:nvPr/>
        </p:nvSpPr>
        <p:spPr>
          <a:xfrm>
            <a:off x="1774009" y="319351"/>
            <a:ext cx="3630800" cy="1321711"/>
          </a:xfrm>
          <a:prstGeom prst="wedgeEllipseCallout">
            <a:avLst>
              <a:gd name="adj1" fmla="val 28701"/>
              <a:gd name="adj2" fmla="val 8859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E" sz="2400" dirty="0"/>
              <a:t>Use CP to solve this combinatorial problem</a:t>
            </a:r>
          </a:p>
        </p:txBody>
      </p:sp>
      <p:sp>
        <p:nvSpPr>
          <p:cNvPr id="19" name="Oval Callout 18">
            <a:extLst>
              <a:ext uri="{FF2B5EF4-FFF2-40B4-BE49-F238E27FC236}">
                <a16:creationId xmlns:a16="http://schemas.microsoft.com/office/drawing/2014/main" id="{68F171EC-F507-23CB-5C70-13A335F0249A}"/>
              </a:ext>
            </a:extLst>
          </p:cNvPr>
          <p:cNvSpPr/>
          <p:nvPr/>
        </p:nvSpPr>
        <p:spPr>
          <a:xfrm>
            <a:off x="-9663" y="1104501"/>
            <a:ext cx="2676374" cy="879870"/>
          </a:xfrm>
          <a:prstGeom prst="wedgeEllipseCallout">
            <a:avLst>
              <a:gd name="adj1" fmla="val 9981"/>
              <a:gd name="adj2" fmla="val 8265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Oh no, that’s too difficult!</a:t>
            </a:r>
            <a:endParaRPr lang="en-BE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96D3DE-0BEC-5A70-FDBF-7510B31CF07A}"/>
              </a:ext>
            </a:extLst>
          </p:cNvPr>
          <p:cNvSpPr txBox="1"/>
          <p:nvPr/>
        </p:nvSpPr>
        <p:spPr>
          <a:xfrm>
            <a:off x="5850294" y="569505"/>
            <a:ext cx="59100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3600" dirty="0">
                <a:latin typeface="Gill Sans Nova" panose="020B0602020104020203" pitchFamily="34" charset="0"/>
              </a:rPr>
              <a:t>CP is </a:t>
            </a:r>
            <a:r>
              <a:rPr lang="en-BE" sz="3600" dirty="0">
                <a:solidFill>
                  <a:srgbClr val="00B050"/>
                </a:solidFill>
                <a:latin typeface="Gill Sans Nova" panose="020B0602020104020203" pitchFamily="34" charset="0"/>
              </a:rPr>
              <a:t>powerful</a:t>
            </a:r>
            <a:r>
              <a:rPr lang="en-BE" sz="3600" dirty="0">
                <a:latin typeface="Gill Sans Nova" panose="020B0602020104020203" pitchFamily="34" charset="0"/>
              </a:rPr>
              <a:t>, </a:t>
            </a:r>
            <a:r>
              <a:rPr lang="en-BE" sz="3600" u="sng" dirty="0">
                <a:latin typeface="Gill Sans Nova" panose="020B0602020104020203" pitchFamily="34" charset="0"/>
              </a:rPr>
              <a:t>but</a:t>
            </a:r>
            <a:r>
              <a:rPr lang="en-BE" sz="3600" dirty="0">
                <a:latin typeface="Gill Sans Nova" panose="020B0602020104020203" pitchFamily="34" charset="0"/>
              </a:rPr>
              <a:t> modelling requires </a:t>
            </a:r>
            <a:r>
              <a:rPr lang="en-BE" sz="3600" dirty="0">
                <a:solidFill>
                  <a:schemeClr val="accent2">
                    <a:lumMod val="75000"/>
                  </a:schemeClr>
                </a:solidFill>
                <a:latin typeface="Gill Sans Nova" panose="020B0602020104020203" pitchFamily="34" charset="0"/>
              </a:rPr>
              <a:t>expertise</a:t>
            </a:r>
            <a:r>
              <a:rPr lang="en-BE" sz="3600" dirty="0">
                <a:latin typeface="Gill Sans Nova" panose="020B0602020104020203" pitchFamily="34" charset="0"/>
              </a:rPr>
              <a:t> in:</a:t>
            </a:r>
          </a:p>
        </p:txBody>
      </p:sp>
      <p:pic>
        <p:nvPicPr>
          <p:cNvPr id="31" name="Graphic 30" descr="Construction worker male outline">
            <a:extLst>
              <a:ext uri="{FF2B5EF4-FFF2-40B4-BE49-F238E27FC236}">
                <a16:creationId xmlns:a16="http://schemas.microsoft.com/office/drawing/2014/main" id="{B2751012-2FF1-54FB-9ED8-A45CCF0F0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754" y="2197617"/>
            <a:ext cx="907002" cy="907002"/>
          </a:xfrm>
          <a:prstGeom prst="rect">
            <a:avLst/>
          </a:prstGeom>
        </p:spPr>
      </p:pic>
      <p:pic>
        <p:nvPicPr>
          <p:cNvPr id="32" name="Graphic 31" descr="Programmer female outline">
            <a:extLst>
              <a:ext uri="{FF2B5EF4-FFF2-40B4-BE49-F238E27FC236}">
                <a16:creationId xmlns:a16="http://schemas.microsoft.com/office/drawing/2014/main" id="{39579875-BC37-3183-5FC4-21EDBEF17B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754" y="4700512"/>
            <a:ext cx="907002" cy="907002"/>
          </a:xfrm>
          <a:prstGeom prst="rect">
            <a:avLst/>
          </a:prstGeom>
        </p:spPr>
      </p:pic>
      <p:pic>
        <p:nvPicPr>
          <p:cNvPr id="33" name="Graphic 32" descr="Mathematics outline">
            <a:extLst>
              <a:ext uri="{FF2B5EF4-FFF2-40B4-BE49-F238E27FC236}">
                <a16:creationId xmlns:a16="http://schemas.microsoft.com/office/drawing/2014/main" id="{257FD201-1C83-444E-1A72-03D4DCFE86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753" y="3389948"/>
            <a:ext cx="907002" cy="100820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2F7DF39-6E93-B98C-1324-3ABDF2F21333}"/>
              </a:ext>
            </a:extLst>
          </p:cNvPr>
          <p:cNvSpPr txBox="1"/>
          <p:nvPr/>
        </p:nvSpPr>
        <p:spPr>
          <a:xfrm>
            <a:off x="7543975" y="2363160"/>
            <a:ext cx="3955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3600" dirty="0">
                <a:latin typeface="Gill Sans Nova" panose="020B0602020104020203" pitchFamily="34" charset="0"/>
              </a:rPr>
              <a:t>Domain Knowledge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299016A-B47F-AABD-AE7C-D7BA96EFCAFA}"/>
              </a:ext>
            </a:extLst>
          </p:cNvPr>
          <p:cNvSpPr txBox="1"/>
          <p:nvPr/>
        </p:nvSpPr>
        <p:spPr>
          <a:xfrm>
            <a:off x="7543975" y="3614608"/>
            <a:ext cx="3955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3600" dirty="0">
                <a:latin typeface="Gill Sans Nova" panose="020B0602020104020203" pitchFamily="34" charset="0"/>
              </a:rPr>
              <a:t>Mathematical Skills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611E85-0D7D-CF8B-EE0E-9F562529C0FD}"/>
              </a:ext>
            </a:extLst>
          </p:cNvPr>
          <p:cNvSpPr txBox="1"/>
          <p:nvPr/>
        </p:nvSpPr>
        <p:spPr>
          <a:xfrm>
            <a:off x="7543975" y="4866056"/>
            <a:ext cx="3955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3600" dirty="0">
                <a:latin typeface="Gill Sans Nova" panose="020B0602020104020203" pitchFamily="34" charset="0"/>
              </a:rPr>
              <a:t>Solver Formalisms</a:t>
            </a:r>
          </a:p>
        </p:txBody>
      </p:sp>
    </p:spTree>
    <p:extLst>
      <p:ext uri="{BB962C8B-B14F-4D97-AF65-F5344CB8AC3E}">
        <p14:creationId xmlns:p14="http://schemas.microsoft.com/office/powerpoint/2010/main" val="1150930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5" grpId="0"/>
      <p:bldP spid="38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1379CF-7A6D-3C89-83A4-BAB46A1DA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5</a:t>
            </a:fld>
            <a:endParaRPr lang="en-B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A14C5F-B7A3-C647-F1B6-E6D4DEF12235}"/>
              </a:ext>
            </a:extLst>
          </p:cNvPr>
          <p:cNvSpPr txBox="1"/>
          <p:nvPr/>
        </p:nvSpPr>
        <p:spPr>
          <a:xfrm>
            <a:off x="481211" y="1725835"/>
            <a:ext cx="379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Modelling Tools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A09C9DD-2DBB-B040-7C90-6E1460DC3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468" y="1557375"/>
            <a:ext cx="882296" cy="882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65AA8F3-2699-2058-2DA1-4D49D9369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775" y="1551034"/>
            <a:ext cx="882295" cy="882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79EA41-471C-6742-F9F5-17CAA07A4261}"/>
              </a:ext>
            </a:extLst>
          </p:cNvPr>
          <p:cNvSpPr txBox="1"/>
          <p:nvPr/>
        </p:nvSpPr>
        <p:spPr>
          <a:xfrm rot="20609480">
            <a:off x="6699933" y="1743831"/>
            <a:ext cx="1240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CPMpy</a:t>
            </a:r>
            <a:endParaRPr lang="en-BE" sz="2400" b="1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4BCE4C-3105-1902-4743-3E2844F7D059}"/>
              </a:ext>
            </a:extLst>
          </p:cNvPr>
          <p:cNvSpPr txBox="1"/>
          <p:nvPr/>
        </p:nvSpPr>
        <p:spPr>
          <a:xfrm>
            <a:off x="2269807" y="3070499"/>
            <a:ext cx="4492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Constraint Acquisition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C2218F-48AF-98F8-C0EB-5D5278BAFFE4}"/>
              </a:ext>
            </a:extLst>
          </p:cNvPr>
          <p:cNvSpPr txBox="1"/>
          <p:nvPr/>
        </p:nvSpPr>
        <p:spPr>
          <a:xfrm>
            <a:off x="2269807" y="3597626"/>
            <a:ext cx="4005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Users provide or classify (non-)solutions</a:t>
            </a:r>
          </a:p>
        </p:txBody>
      </p:sp>
      <p:pic>
        <p:nvPicPr>
          <p:cNvPr id="11" name="Graphic 10" descr="Close with solid fill">
            <a:extLst>
              <a:ext uri="{FF2B5EF4-FFF2-40B4-BE49-F238E27FC236}">
                <a16:creationId xmlns:a16="http://schemas.microsoft.com/office/drawing/2014/main" id="{6C0FD481-F009-4C08-D7FD-1C4D5FF894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7546" y="3294138"/>
            <a:ext cx="770005" cy="770005"/>
          </a:xfrm>
          <a:prstGeom prst="rect">
            <a:avLst/>
          </a:prstGeom>
        </p:spPr>
      </p:pic>
      <p:pic>
        <p:nvPicPr>
          <p:cNvPr id="16" name="Graphic 15" descr="Badge Tick1 with solid fill">
            <a:extLst>
              <a:ext uri="{FF2B5EF4-FFF2-40B4-BE49-F238E27FC236}">
                <a16:creationId xmlns:a16="http://schemas.microsoft.com/office/drawing/2014/main" id="{8FFD4C5D-5C99-5109-160F-8E06D3F536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51302" y="2791494"/>
            <a:ext cx="905264" cy="90526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B21A206-8645-E9AD-0D9F-143F04385D7A}"/>
              </a:ext>
            </a:extLst>
          </p:cNvPr>
          <p:cNvSpPr txBox="1"/>
          <p:nvPr/>
        </p:nvSpPr>
        <p:spPr>
          <a:xfrm>
            <a:off x="5810807" y="4655593"/>
            <a:ext cx="4590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/>
              <a:t>From Natural Language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6EBDC8-A464-0257-ADD0-62568BF4D247}"/>
              </a:ext>
            </a:extLst>
          </p:cNvPr>
          <p:cNvSpPr txBox="1"/>
          <p:nvPr/>
        </p:nvSpPr>
        <p:spPr>
          <a:xfrm>
            <a:off x="5810807" y="5209195"/>
            <a:ext cx="4784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Textual descriptions of combinatorial problems</a:t>
            </a:r>
          </a:p>
        </p:txBody>
      </p:sp>
      <p:pic>
        <p:nvPicPr>
          <p:cNvPr id="12" name="Graphic 11" descr="Subtitles with solid fill">
            <a:extLst>
              <a:ext uri="{FF2B5EF4-FFF2-40B4-BE49-F238E27FC236}">
                <a16:creationId xmlns:a16="http://schemas.microsoft.com/office/drawing/2014/main" id="{661D3B04-F504-92D1-760A-5767866F72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63356" y="4804255"/>
            <a:ext cx="662841" cy="662841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AB4AA0D-9EC4-D6B2-82F7-BE26C714F6EA}"/>
              </a:ext>
            </a:extLst>
          </p:cNvPr>
          <p:cNvSpPr/>
          <p:nvPr/>
        </p:nvSpPr>
        <p:spPr>
          <a:xfrm>
            <a:off x="5046582" y="4584450"/>
            <a:ext cx="5548328" cy="1149376"/>
          </a:xfrm>
          <a:prstGeom prst="round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FA2DA9-24A0-52B7-4498-2CF156E07B23}"/>
              </a:ext>
            </a:extLst>
          </p:cNvPr>
          <p:cNvSpPr txBox="1"/>
          <p:nvPr/>
        </p:nvSpPr>
        <p:spPr>
          <a:xfrm>
            <a:off x="481211" y="407172"/>
            <a:ext cx="83175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4000" i="1" u="sng" dirty="0"/>
              <a:t>Making CP More Accessible</a:t>
            </a:r>
          </a:p>
        </p:txBody>
      </p:sp>
    </p:spTree>
    <p:extLst>
      <p:ext uri="{BB962C8B-B14F-4D97-AF65-F5344CB8AC3E}">
        <p14:creationId xmlns:p14="http://schemas.microsoft.com/office/powerpoint/2010/main" val="55409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/>
      <p:bldP spid="8" grpId="0"/>
      <p:bldP spid="20" grpId="0"/>
      <p:bldP spid="21" grpId="0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CDF7AD-1952-1396-A1DA-83D7422CF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6</a:t>
            </a:fld>
            <a:endParaRPr lang="en-BE"/>
          </a:p>
        </p:txBody>
      </p:sp>
      <p:pic>
        <p:nvPicPr>
          <p:cNvPr id="6" name="Picture 5" descr="A person looking at a robot&#10;&#10;Description automatically generated">
            <a:extLst>
              <a:ext uri="{FF2B5EF4-FFF2-40B4-BE49-F238E27FC236}">
                <a16:creationId xmlns:a16="http://schemas.microsoft.com/office/drawing/2014/main" id="{AB72CD7D-482E-6501-5188-374603AF0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824" y="800314"/>
            <a:ext cx="5106048" cy="5106048"/>
          </a:xfrm>
          <a:prstGeom prst="rect">
            <a:avLst/>
          </a:prstGeom>
        </p:spPr>
      </p:pic>
      <p:sp>
        <p:nvSpPr>
          <p:cNvPr id="7" name="Oval Callout 6">
            <a:extLst>
              <a:ext uri="{FF2B5EF4-FFF2-40B4-BE49-F238E27FC236}">
                <a16:creationId xmlns:a16="http://schemas.microsoft.com/office/drawing/2014/main" id="{2547278F-F322-C1BD-52C8-CB9080E1F78E}"/>
              </a:ext>
            </a:extLst>
          </p:cNvPr>
          <p:cNvSpPr/>
          <p:nvPr/>
        </p:nvSpPr>
        <p:spPr>
          <a:xfrm>
            <a:off x="92974" y="180691"/>
            <a:ext cx="3592618" cy="910991"/>
          </a:xfrm>
          <a:prstGeom prst="wedgeEllipseCallout">
            <a:avLst>
              <a:gd name="adj1" fmla="val 11378"/>
              <a:gd name="adj2" fmla="val 75769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Make a CP model for me, please!</a:t>
            </a:r>
            <a:endParaRPr lang="en-BE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217C10-C4AF-B0C6-5EDD-C474D51E4137}"/>
              </a:ext>
            </a:extLst>
          </p:cNvPr>
          <p:cNvSpPr txBox="1"/>
          <p:nvPr/>
        </p:nvSpPr>
        <p:spPr>
          <a:xfrm>
            <a:off x="1142824" y="5906362"/>
            <a:ext cx="35166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Image created using OpenAI's ChatGPT.</a:t>
            </a:r>
            <a:endParaRPr lang="en-BE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E6D75C-DDDB-8DBE-3EF8-0A786B56BB2E}"/>
              </a:ext>
            </a:extLst>
          </p:cNvPr>
          <p:cNvSpPr txBox="1"/>
          <p:nvPr/>
        </p:nvSpPr>
        <p:spPr>
          <a:xfrm>
            <a:off x="6419462" y="1997980"/>
            <a:ext cx="53557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3600" dirty="0"/>
              <a:t>Can </a:t>
            </a:r>
          </a:p>
          <a:p>
            <a:pPr algn="ctr"/>
            <a:r>
              <a:rPr lang="en-BE" sz="3600" dirty="0">
                <a:solidFill>
                  <a:schemeClr val="accent4">
                    <a:lumMod val="75000"/>
                  </a:schemeClr>
                </a:solidFill>
              </a:rPr>
              <a:t>Large Language Models </a:t>
            </a:r>
            <a:r>
              <a:rPr lang="en-BE" sz="3600" dirty="0"/>
              <a:t>assist in</a:t>
            </a:r>
          </a:p>
          <a:p>
            <a:pPr algn="ctr"/>
            <a:r>
              <a:rPr lang="en-BE" sz="3600" dirty="0">
                <a:solidFill>
                  <a:schemeClr val="accent2">
                    <a:lumMod val="75000"/>
                  </a:schemeClr>
                </a:solidFill>
              </a:rPr>
              <a:t>Constraint Modelling</a:t>
            </a:r>
            <a:r>
              <a:rPr lang="en-BE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82447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1CBAC7A-3BA3-E8E4-355D-F1D35E93366C}"/>
              </a:ext>
            </a:extLst>
          </p:cNvPr>
          <p:cNvSpPr/>
          <p:nvPr/>
        </p:nvSpPr>
        <p:spPr>
          <a:xfrm>
            <a:off x="0" y="2331720"/>
            <a:ext cx="12192000" cy="39245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7A160A-A6DD-A2A6-D28D-66758DD7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7</a:t>
            </a:fld>
            <a:endParaRPr lang="en-BE"/>
          </a:p>
        </p:txBody>
      </p:sp>
      <p:pic>
        <p:nvPicPr>
          <p:cNvPr id="4" name="Graphic 3" descr="Bullseye outline">
            <a:extLst>
              <a:ext uri="{FF2B5EF4-FFF2-40B4-BE49-F238E27FC236}">
                <a16:creationId xmlns:a16="http://schemas.microsoft.com/office/drawing/2014/main" id="{499816CF-29FC-FF31-80A0-89E688884D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803" y="327149"/>
            <a:ext cx="1934135" cy="19341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AB11B3-461F-A857-EFE1-A0816A95F548}"/>
              </a:ext>
            </a:extLst>
          </p:cNvPr>
          <p:cNvSpPr txBox="1"/>
          <p:nvPr/>
        </p:nvSpPr>
        <p:spPr>
          <a:xfrm>
            <a:off x="3247354" y="614089"/>
            <a:ext cx="78290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An LLM-based </a:t>
            </a:r>
            <a:r>
              <a:rPr lang="en-US" sz="2800" i="1"/>
              <a:t>Constraint Programming &amp; Modelling</a:t>
            </a:r>
            <a:r>
              <a:rPr lang="en-US" sz="2800"/>
              <a:t> </a:t>
            </a:r>
            <a:r>
              <a:rPr lang="en-US" sz="2800">
                <a:solidFill>
                  <a:schemeClr val="accent4">
                    <a:lumMod val="75000"/>
                  </a:schemeClr>
                </a:solidFill>
              </a:rPr>
              <a:t>assistant</a:t>
            </a:r>
            <a:r>
              <a:rPr lang="en-US" sz="2800"/>
              <a:t> for combinatorial problems given only their </a:t>
            </a:r>
            <a:r>
              <a:rPr lang="en-US" sz="2800" u="sng"/>
              <a:t>natural language description</a:t>
            </a:r>
            <a:endParaRPr lang="en-BE" sz="2800" u="sng"/>
          </a:p>
        </p:txBody>
      </p:sp>
      <p:sp>
        <p:nvSpPr>
          <p:cNvPr id="6" name="Oval Callout 35">
            <a:extLst>
              <a:ext uri="{FF2B5EF4-FFF2-40B4-BE49-F238E27FC236}">
                <a16:creationId xmlns:a16="http://schemas.microsoft.com/office/drawing/2014/main" id="{D39E224F-206D-AA8A-049F-AE36AC51EAE4}"/>
              </a:ext>
            </a:extLst>
          </p:cNvPr>
          <p:cNvSpPr/>
          <p:nvPr/>
        </p:nvSpPr>
        <p:spPr>
          <a:xfrm>
            <a:off x="2113867" y="2587541"/>
            <a:ext cx="4494169" cy="1384995"/>
          </a:xfrm>
          <a:prstGeom prst="wedgeEllipseCallout">
            <a:avLst>
              <a:gd name="adj1" fmla="val -42538"/>
              <a:gd name="adj2" fmla="val 47785"/>
            </a:avLst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Gill Sans Nova" panose="020B0602020104020203" pitchFamily="34" charset="0"/>
              </a:rPr>
              <a:t>We’re a team of 10, and we need to complete 5 tasks in the shortest time possible.</a:t>
            </a:r>
            <a:endParaRPr lang="en-BE" sz="2000">
              <a:solidFill>
                <a:schemeClr val="tx1"/>
              </a:solidFill>
              <a:latin typeface="Gill Sans Nova" panose="020B0602020104020203" pitchFamily="34" charset="0"/>
            </a:endParaRPr>
          </a:p>
        </p:txBody>
      </p:sp>
      <p:pic>
        <p:nvPicPr>
          <p:cNvPr id="7" name="Graphic 6" descr="Robot outline">
            <a:extLst>
              <a:ext uri="{FF2B5EF4-FFF2-40B4-BE49-F238E27FC236}">
                <a16:creationId xmlns:a16="http://schemas.microsoft.com/office/drawing/2014/main" id="{70A0E53F-AD83-F1A0-AE9D-6D61E15811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44548" y="3731435"/>
            <a:ext cx="1903605" cy="1831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DF91B2-B215-6BD0-E64C-4C38D4DE13B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325" t="8489" r="18882" b="3877"/>
          <a:stretch/>
        </p:blipFill>
        <p:spPr>
          <a:xfrm>
            <a:off x="7161869" y="3579035"/>
            <a:ext cx="2743201" cy="2547835"/>
          </a:xfrm>
          <a:prstGeom prst="rect">
            <a:avLst/>
          </a:prstGeom>
          <a:noFill/>
          <a:ln w="76200">
            <a:solidFill>
              <a:schemeClr val="tx2">
                <a:lumMod val="75000"/>
                <a:lumOff val="2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3794923027">
                  <a:custGeom>
                    <a:avLst/>
                    <a:gdLst>
                      <a:gd name="connsiteX0" fmla="*/ 0 w 6854760"/>
                      <a:gd name="connsiteY0" fmla="*/ 0 h 6366575"/>
                      <a:gd name="connsiteX1" fmla="*/ 6854760 w 6854760"/>
                      <a:gd name="connsiteY1" fmla="*/ 0 h 6366575"/>
                      <a:gd name="connsiteX2" fmla="*/ 6854760 w 6854760"/>
                      <a:gd name="connsiteY2" fmla="*/ 6366575 h 6366575"/>
                      <a:gd name="connsiteX3" fmla="*/ 0 w 6854760"/>
                      <a:gd name="connsiteY3" fmla="*/ 6366575 h 6366575"/>
                      <a:gd name="connsiteX4" fmla="*/ 0 w 6854760"/>
                      <a:gd name="connsiteY4" fmla="*/ 0 h 6366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54760" h="6366575" fill="none" extrusionOk="0">
                        <a:moveTo>
                          <a:pt x="0" y="0"/>
                        </a:moveTo>
                        <a:cubicBezTo>
                          <a:pt x="1978665" y="-139818"/>
                          <a:pt x="4434533" y="30561"/>
                          <a:pt x="6854760" y="0"/>
                        </a:cubicBezTo>
                        <a:cubicBezTo>
                          <a:pt x="6811484" y="1743360"/>
                          <a:pt x="6791112" y="4359142"/>
                          <a:pt x="6854760" y="6366575"/>
                        </a:cubicBezTo>
                        <a:cubicBezTo>
                          <a:pt x="3973337" y="6386099"/>
                          <a:pt x="2958044" y="6203648"/>
                          <a:pt x="0" y="6366575"/>
                        </a:cubicBezTo>
                        <a:cubicBezTo>
                          <a:pt x="50009" y="3941392"/>
                          <a:pt x="50608" y="988522"/>
                          <a:pt x="0" y="0"/>
                        </a:cubicBezTo>
                        <a:close/>
                      </a:path>
                      <a:path w="6854760" h="6366575" stroke="0" extrusionOk="0">
                        <a:moveTo>
                          <a:pt x="0" y="0"/>
                        </a:moveTo>
                        <a:cubicBezTo>
                          <a:pt x="927563" y="-165412"/>
                          <a:pt x="3582527" y="-91514"/>
                          <a:pt x="6854760" y="0"/>
                        </a:cubicBezTo>
                        <a:cubicBezTo>
                          <a:pt x="6745060" y="2734921"/>
                          <a:pt x="6844403" y="4760143"/>
                          <a:pt x="6854760" y="6366575"/>
                        </a:cubicBezTo>
                        <a:cubicBezTo>
                          <a:pt x="3659524" y="6203252"/>
                          <a:pt x="2095437" y="6450959"/>
                          <a:pt x="0" y="6366575"/>
                        </a:cubicBezTo>
                        <a:cubicBezTo>
                          <a:pt x="80972" y="3902223"/>
                          <a:pt x="-22686" y="277190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46F17D1-972F-4340-F0BD-5D4ACE8223B6}"/>
              </a:ext>
            </a:extLst>
          </p:cNvPr>
          <p:cNvSpPr/>
          <p:nvPr/>
        </p:nvSpPr>
        <p:spPr>
          <a:xfrm>
            <a:off x="4141991" y="4849517"/>
            <a:ext cx="2296103" cy="129351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latin typeface="Gill Sans Nova" panose="020B0602020104020203" pitchFamily="34" charset="0"/>
              </a:rPr>
              <a:t>Solution Found!</a:t>
            </a:r>
            <a:endParaRPr lang="en-BE" sz="4000">
              <a:latin typeface="Gill Sans Nova" panose="020B0602020104020203" pitchFamily="34" charset="0"/>
            </a:endParaRPr>
          </a:p>
        </p:txBody>
      </p:sp>
      <p:pic>
        <p:nvPicPr>
          <p:cNvPr id="11" name="Graphic 10" descr="Arrow: Rotate left outline">
            <a:extLst>
              <a:ext uri="{FF2B5EF4-FFF2-40B4-BE49-F238E27FC236}">
                <a16:creationId xmlns:a16="http://schemas.microsoft.com/office/drawing/2014/main" id="{73EE0565-31D4-1405-90B2-BC9F0B51B0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811730">
            <a:off x="5419527" y="4021331"/>
            <a:ext cx="1760610" cy="1107671"/>
          </a:xfrm>
          <a:prstGeom prst="rect">
            <a:avLst/>
          </a:prstGeom>
        </p:spPr>
      </p:pic>
      <p:pic>
        <p:nvPicPr>
          <p:cNvPr id="12" name="Graphic 11" descr="Confused person with solid fill">
            <a:extLst>
              <a:ext uri="{FF2B5EF4-FFF2-40B4-BE49-F238E27FC236}">
                <a16:creationId xmlns:a16="http://schemas.microsoft.com/office/drawing/2014/main" id="{3890671A-A3FE-5B21-10CD-71B087F4C4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9803" y="3579035"/>
            <a:ext cx="2028124" cy="2028124"/>
          </a:xfrm>
          <a:prstGeom prst="rect">
            <a:avLst/>
          </a:prstGeom>
        </p:spPr>
      </p:pic>
      <p:sp>
        <p:nvSpPr>
          <p:cNvPr id="8" name="Oval Callout 48">
            <a:extLst>
              <a:ext uri="{FF2B5EF4-FFF2-40B4-BE49-F238E27FC236}">
                <a16:creationId xmlns:a16="http://schemas.microsoft.com/office/drawing/2014/main" id="{E5EF7910-BDB0-E947-5F00-AA12B9A58625}"/>
              </a:ext>
            </a:extLst>
          </p:cNvPr>
          <p:cNvSpPr/>
          <p:nvPr/>
        </p:nvSpPr>
        <p:spPr>
          <a:xfrm>
            <a:off x="7914329" y="2741616"/>
            <a:ext cx="3110701" cy="1025038"/>
          </a:xfrm>
          <a:prstGeom prst="wedgeEllipseCallout">
            <a:avLst>
              <a:gd name="adj1" fmla="val 30314"/>
              <a:gd name="adj2" fmla="val 77445"/>
            </a:avLst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Gill Sans Nova" panose="020B0602020104020203" pitchFamily="34" charset="0"/>
              </a:rPr>
              <a:t>Here is an executable model in Python:</a:t>
            </a:r>
          </a:p>
        </p:txBody>
      </p:sp>
    </p:spTree>
    <p:extLst>
      <p:ext uri="{BB962C8B-B14F-4D97-AF65-F5344CB8AC3E}">
        <p14:creationId xmlns:p14="http://schemas.microsoft.com/office/powerpoint/2010/main" val="2697471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794082-DA7C-1AF8-3911-690BBD732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8</a:t>
            </a:fld>
            <a:endParaRPr lang="en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557F84-D118-1CA5-B16D-B18828EE39C5}"/>
              </a:ext>
            </a:extLst>
          </p:cNvPr>
          <p:cNvSpPr txBox="1"/>
          <p:nvPr/>
        </p:nvSpPr>
        <p:spPr>
          <a:xfrm>
            <a:off x="1185565" y="384906"/>
            <a:ext cx="4040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From Natural Language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787CC8-4547-93EC-E345-19A66AD0C58F}"/>
              </a:ext>
            </a:extLst>
          </p:cNvPr>
          <p:cNvSpPr txBox="1"/>
          <p:nvPr/>
        </p:nvSpPr>
        <p:spPr>
          <a:xfrm>
            <a:off x="1185565" y="938508"/>
            <a:ext cx="4211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Textual descriptions of combinatorial problems</a:t>
            </a:r>
          </a:p>
        </p:txBody>
      </p:sp>
      <p:pic>
        <p:nvPicPr>
          <p:cNvPr id="8" name="Graphic 7" descr="Subtitles with solid fill">
            <a:extLst>
              <a:ext uri="{FF2B5EF4-FFF2-40B4-BE49-F238E27FC236}">
                <a16:creationId xmlns:a16="http://schemas.microsoft.com/office/drawing/2014/main" id="{6C45903A-579F-51CF-2B14-366DC6EC32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533" y="538596"/>
            <a:ext cx="584776" cy="584776"/>
          </a:xfrm>
          <a:prstGeom prst="rect">
            <a:avLst/>
          </a:prstGeom>
        </p:spPr>
      </p:pic>
      <p:sp>
        <p:nvSpPr>
          <p:cNvPr id="2" name="Rounded Rectangle 12">
            <a:extLst>
              <a:ext uri="{FF2B5EF4-FFF2-40B4-BE49-F238E27FC236}">
                <a16:creationId xmlns:a16="http://schemas.microsoft.com/office/drawing/2014/main" id="{9BB8DACC-9C27-FB2F-B0B8-C755DBC709B6}"/>
              </a:ext>
            </a:extLst>
          </p:cNvPr>
          <p:cNvSpPr/>
          <p:nvPr/>
        </p:nvSpPr>
        <p:spPr>
          <a:xfrm>
            <a:off x="435340" y="340291"/>
            <a:ext cx="5056095" cy="1075765"/>
          </a:xfrm>
          <a:prstGeom prst="round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13E5B5-F5E7-4314-B8CB-8EE6630AC95E}"/>
              </a:ext>
            </a:extLst>
          </p:cNvPr>
          <p:cNvCxnSpPr>
            <a:cxnSpLocks/>
          </p:cNvCxnSpPr>
          <p:nvPr/>
        </p:nvCxnSpPr>
        <p:spPr>
          <a:xfrm flipV="1">
            <a:off x="502834" y="3488732"/>
            <a:ext cx="10570174" cy="18299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96C0562-E660-C7BE-6A93-42AAA4A62C92}"/>
              </a:ext>
            </a:extLst>
          </p:cNvPr>
          <p:cNvSpPr txBox="1"/>
          <p:nvPr/>
        </p:nvSpPr>
        <p:spPr>
          <a:xfrm>
            <a:off x="361450" y="2115774"/>
            <a:ext cx="2263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Constraint Detection with Sequence Labelling </a:t>
            </a:r>
          </a:p>
          <a:p>
            <a:r>
              <a:rPr lang="en-US" sz="1600" dirty="0"/>
              <a:t>(SVM-HMM)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EFA158-EA2E-52FE-873A-44386FD8F071}"/>
              </a:ext>
            </a:extLst>
          </p:cNvPr>
          <p:cNvSpPr/>
          <p:nvPr/>
        </p:nvSpPr>
        <p:spPr>
          <a:xfrm>
            <a:off x="1050695" y="3363464"/>
            <a:ext cx="287133" cy="28713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15E194D-9296-BE2C-7344-D66F6BFCCF57}"/>
              </a:ext>
            </a:extLst>
          </p:cNvPr>
          <p:cNvSpPr/>
          <p:nvPr/>
        </p:nvSpPr>
        <p:spPr>
          <a:xfrm>
            <a:off x="2873529" y="3363464"/>
            <a:ext cx="287133" cy="28713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82D0D3-E5C4-7261-8F13-763B96A9DB5F}"/>
              </a:ext>
            </a:extLst>
          </p:cNvPr>
          <p:cNvSpPr txBox="1"/>
          <p:nvPr/>
        </p:nvSpPr>
        <p:spPr>
          <a:xfrm>
            <a:off x="2153479" y="3759265"/>
            <a:ext cx="1897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600" dirty="0"/>
              <a:t>FOL expressions from Logic Grid Puzzle (LGP) clues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ADB9DC-35F8-EC1B-2F93-D04311EBC060}"/>
              </a:ext>
            </a:extLst>
          </p:cNvPr>
          <p:cNvSpPr txBox="1"/>
          <p:nvPr/>
        </p:nvSpPr>
        <p:spPr>
          <a:xfrm>
            <a:off x="4076793" y="2059095"/>
            <a:ext cx="1711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7030A0"/>
                </a:solidFill>
              </a:rPr>
              <a:t>LGP clues to Prolog constraints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7030A0"/>
                </a:solidFill>
              </a:rPr>
              <a:t>(</a:t>
            </a:r>
            <a:r>
              <a:rPr lang="en-US" sz="1600" dirty="0" err="1">
                <a:solidFill>
                  <a:srgbClr val="7030A0"/>
                </a:solidFill>
              </a:rPr>
              <a:t>DistilBERT</a:t>
            </a:r>
            <a:r>
              <a:rPr lang="en-US" sz="1600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6B9B17-1308-2A95-4443-D43B1BFE40AC}"/>
              </a:ext>
            </a:extLst>
          </p:cNvPr>
          <p:cNvSpPr txBox="1"/>
          <p:nvPr/>
        </p:nvSpPr>
        <p:spPr>
          <a:xfrm>
            <a:off x="6113778" y="3883847"/>
            <a:ext cx="189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7030A0"/>
                </a:solidFill>
              </a:rPr>
              <a:t>Linear Optimization (NL4Opt)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C93F3C-066B-67F7-D2B6-4424E2292544}"/>
              </a:ext>
            </a:extLst>
          </p:cNvPr>
          <p:cNvSpPr txBox="1"/>
          <p:nvPr/>
        </p:nvSpPr>
        <p:spPr>
          <a:xfrm>
            <a:off x="1185565" y="5155353"/>
            <a:ext cx="2166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Traditional NLP</a:t>
            </a:r>
            <a:endParaRPr lang="en-BE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D1A16A-EE82-A184-53F9-D55A82864AA6}"/>
              </a:ext>
            </a:extLst>
          </p:cNvPr>
          <p:cNvSpPr txBox="1"/>
          <p:nvPr/>
        </p:nvSpPr>
        <p:spPr>
          <a:xfrm>
            <a:off x="8186285" y="1130024"/>
            <a:ext cx="23673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Declarative Model Synthesis (SMT-specific)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17BD94-A52D-1C63-7D83-3F7753DF92AC}"/>
              </a:ext>
            </a:extLst>
          </p:cNvPr>
          <p:cNvSpPr txBox="1"/>
          <p:nvPr/>
        </p:nvSpPr>
        <p:spPr>
          <a:xfrm>
            <a:off x="9094871" y="1748622"/>
            <a:ext cx="1458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LGP clues to ASP rules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9D9967-F2C0-1ABB-EB30-8BE47864FC0C}"/>
              </a:ext>
            </a:extLst>
          </p:cNvPr>
          <p:cNvSpPr txBox="1"/>
          <p:nvPr/>
        </p:nvSpPr>
        <p:spPr>
          <a:xfrm>
            <a:off x="9824249" y="2342890"/>
            <a:ext cx="1630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LP problems to formal models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7F9A11-A2FD-3BDC-F2B7-CB62CDD4A643}"/>
              </a:ext>
            </a:extLst>
          </p:cNvPr>
          <p:cNvSpPr txBox="1"/>
          <p:nvPr/>
        </p:nvSpPr>
        <p:spPr>
          <a:xfrm rot="19512855">
            <a:off x="8607934" y="3122496"/>
            <a:ext cx="6624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2023</a:t>
            </a:r>
            <a:endParaRPr lang="en-BE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B4B650-DA20-0C6B-6F08-A4D77C97F202}"/>
              </a:ext>
            </a:extLst>
          </p:cNvPr>
          <p:cNvSpPr txBox="1"/>
          <p:nvPr/>
        </p:nvSpPr>
        <p:spPr>
          <a:xfrm>
            <a:off x="4259342" y="4970686"/>
            <a:ext cx="3673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Pre-GPT Language Models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7030A0"/>
                </a:solidFill>
              </a:rPr>
              <a:t>Fine-Tuning</a:t>
            </a:r>
            <a:endParaRPr lang="en-BE" sz="2400" dirty="0">
              <a:solidFill>
                <a:srgbClr val="7030A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EDDDF8-896F-CEE8-E5C1-9C2D16B43F5F}"/>
              </a:ext>
            </a:extLst>
          </p:cNvPr>
          <p:cNvSpPr txBox="1"/>
          <p:nvPr/>
        </p:nvSpPr>
        <p:spPr>
          <a:xfrm>
            <a:off x="8145524" y="4975946"/>
            <a:ext cx="3673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Modern LLMs (e.g. GPT-3)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In-Context Learning</a:t>
            </a:r>
            <a:endParaRPr lang="en-BE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033B1C-A3B0-BD83-8818-CD710E644A1A}"/>
              </a:ext>
            </a:extLst>
          </p:cNvPr>
          <p:cNvSpPr txBox="1"/>
          <p:nvPr/>
        </p:nvSpPr>
        <p:spPr>
          <a:xfrm rot="19512855">
            <a:off x="4365569" y="3098122"/>
            <a:ext cx="6624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2020</a:t>
            </a:r>
            <a:endParaRPr lang="en-BE" dirty="0">
              <a:solidFill>
                <a:srgbClr val="7030A0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515E1B5-A014-028D-3295-995BE46DB35D}"/>
              </a:ext>
            </a:extLst>
          </p:cNvPr>
          <p:cNvSpPr/>
          <p:nvPr/>
        </p:nvSpPr>
        <p:spPr>
          <a:xfrm>
            <a:off x="4696363" y="3363464"/>
            <a:ext cx="287133" cy="287133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rgbClr val="7030A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EB1211-B594-BBDD-4F9D-2A6086C8CA31}"/>
              </a:ext>
            </a:extLst>
          </p:cNvPr>
          <p:cNvSpPr txBox="1"/>
          <p:nvPr/>
        </p:nvSpPr>
        <p:spPr>
          <a:xfrm rot="19512855">
            <a:off x="6604685" y="3101612"/>
            <a:ext cx="6624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2022</a:t>
            </a:r>
            <a:endParaRPr lang="en-BE" dirty="0">
              <a:solidFill>
                <a:srgbClr val="7030A0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DB6E85D-4DC1-DC1E-159E-CF9D474A972F}"/>
              </a:ext>
            </a:extLst>
          </p:cNvPr>
          <p:cNvSpPr/>
          <p:nvPr/>
        </p:nvSpPr>
        <p:spPr>
          <a:xfrm>
            <a:off x="6935479" y="3366954"/>
            <a:ext cx="287133" cy="287133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rgbClr val="7030A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8D88DB-0D72-CCFB-7F9D-EB9CF0A843CE}"/>
              </a:ext>
            </a:extLst>
          </p:cNvPr>
          <p:cNvSpPr txBox="1"/>
          <p:nvPr/>
        </p:nvSpPr>
        <p:spPr>
          <a:xfrm>
            <a:off x="8642998" y="3753471"/>
            <a:ext cx="23673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Preliminary work on CP modelling, </a:t>
            </a:r>
            <a:r>
              <a:rPr lang="en-US" sz="1600" u="sng" dirty="0">
                <a:solidFill>
                  <a:schemeClr val="accent4">
                    <a:lumMod val="75000"/>
                  </a:schemeClr>
                </a:solidFill>
              </a:rPr>
              <a:t>but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 lacking systematic evaluation.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96DCE7-57FA-82B7-0C49-980E31A4B798}"/>
              </a:ext>
            </a:extLst>
          </p:cNvPr>
          <p:cNvSpPr txBox="1"/>
          <p:nvPr/>
        </p:nvSpPr>
        <p:spPr>
          <a:xfrm rot="19512855">
            <a:off x="2544443" y="3112285"/>
            <a:ext cx="6624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2019</a:t>
            </a:r>
            <a:endParaRPr lang="en-BE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1A9B8B-59C6-B596-5BD3-BFFC5E07E7BF}"/>
              </a:ext>
            </a:extLst>
          </p:cNvPr>
          <p:cNvSpPr txBox="1"/>
          <p:nvPr/>
        </p:nvSpPr>
        <p:spPr>
          <a:xfrm rot="19512855">
            <a:off x="744159" y="3112285"/>
            <a:ext cx="6624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2016</a:t>
            </a:r>
            <a:endParaRPr lang="en-BE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034642A-BBEF-837A-4A67-176CB1CA291A}"/>
              </a:ext>
            </a:extLst>
          </p:cNvPr>
          <p:cNvSpPr/>
          <p:nvPr/>
        </p:nvSpPr>
        <p:spPr>
          <a:xfrm>
            <a:off x="9029811" y="3335375"/>
            <a:ext cx="287133" cy="287133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0C1770F-92F3-EE1F-AA60-01D1B0D2A955}"/>
              </a:ext>
            </a:extLst>
          </p:cNvPr>
          <p:cNvCxnSpPr>
            <a:cxnSpLocks/>
          </p:cNvCxnSpPr>
          <p:nvPr/>
        </p:nvCxnSpPr>
        <p:spPr>
          <a:xfrm>
            <a:off x="306888" y="2173266"/>
            <a:ext cx="0" cy="716826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57805CD-7AAF-F835-2FF6-CBED2F4EBDBC}"/>
              </a:ext>
            </a:extLst>
          </p:cNvPr>
          <p:cNvCxnSpPr>
            <a:cxnSpLocks/>
          </p:cNvCxnSpPr>
          <p:nvPr/>
        </p:nvCxnSpPr>
        <p:spPr>
          <a:xfrm>
            <a:off x="2062620" y="3817538"/>
            <a:ext cx="0" cy="716826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54F10E8-AF64-1583-3C6C-FEFA3F0136BE}"/>
              </a:ext>
            </a:extLst>
          </p:cNvPr>
          <p:cNvCxnSpPr>
            <a:cxnSpLocks/>
          </p:cNvCxnSpPr>
          <p:nvPr/>
        </p:nvCxnSpPr>
        <p:spPr>
          <a:xfrm>
            <a:off x="4053166" y="2115774"/>
            <a:ext cx="0" cy="716826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2B329C7-D7B1-5BB2-18EF-905077E128B2}"/>
              </a:ext>
            </a:extLst>
          </p:cNvPr>
          <p:cNvCxnSpPr>
            <a:cxnSpLocks/>
          </p:cNvCxnSpPr>
          <p:nvPr/>
        </p:nvCxnSpPr>
        <p:spPr>
          <a:xfrm>
            <a:off x="6052159" y="3883847"/>
            <a:ext cx="0" cy="535257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CA0A073-6DF9-60C5-2B3E-1DC82BA93B5B}"/>
              </a:ext>
            </a:extLst>
          </p:cNvPr>
          <p:cNvCxnSpPr>
            <a:cxnSpLocks/>
          </p:cNvCxnSpPr>
          <p:nvPr/>
        </p:nvCxnSpPr>
        <p:spPr>
          <a:xfrm>
            <a:off x="8561771" y="3817538"/>
            <a:ext cx="0" cy="716826"/>
          </a:xfrm>
          <a:prstGeom prst="line">
            <a:avLst/>
          </a:prstGeom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1AC3404-F467-DE5A-C031-F9B4C55704F8}"/>
              </a:ext>
            </a:extLst>
          </p:cNvPr>
          <p:cNvCxnSpPr>
            <a:cxnSpLocks/>
          </p:cNvCxnSpPr>
          <p:nvPr/>
        </p:nvCxnSpPr>
        <p:spPr>
          <a:xfrm>
            <a:off x="8112922" y="1158065"/>
            <a:ext cx="0" cy="482845"/>
          </a:xfrm>
          <a:prstGeom prst="line">
            <a:avLst/>
          </a:prstGeom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CEFDE1D-AE72-E25B-CE54-E9E2B0307074}"/>
              </a:ext>
            </a:extLst>
          </p:cNvPr>
          <p:cNvCxnSpPr>
            <a:cxnSpLocks/>
          </p:cNvCxnSpPr>
          <p:nvPr/>
        </p:nvCxnSpPr>
        <p:spPr>
          <a:xfrm>
            <a:off x="9010621" y="1760277"/>
            <a:ext cx="0" cy="482845"/>
          </a:xfrm>
          <a:prstGeom prst="line">
            <a:avLst/>
          </a:prstGeom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8B3223E-19B2-8614-BA8F-8441C57655FB}"/>
              </a:ext>
            </a:extLst>
          </p:cNvPr>
          <p:cNvCxnSpPr>
            <a:cxnSpLocks/>
          </p:cNvCxnSpPr>
          <p:nvPr/>
        </p:nvCxnSpPr>
        <p:spPr>
          <a:xfrm>
            <a:off x="9724605" y="2370632"/>
            <a:ext cx="0" cy="482845"/>
          </a:xfrm>
          <a:prstGeom prst="line">
            <a:avLst/>
          </a:prstGeom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06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  <p:bldP spid="18" grpId="0"/>
      <p:bldP spid="19" grpId="0"/>
      <p:bldP spid="20" grpId="0"/>
      <p:bldP spid="23" grpId="0"/>
      <p:bldP spid="24" grpId="0"/>
      <p:bldP spid="27" grpId="0"/>
      <p:bldP spid="28" grpId="0"/>
      <p:bldP spid="30" grpId="0"/>
      <p:bldP spid="31" grpId="0"/>
      <p:bldP spid="32" grpId="0"/>
      <p:bldP spid="37" grpId="0"/>
      <p:bldP spid="38" grpId="0" animBg="1"/>
      <p:bldP spid="39" grpId="0"/>
      <p:bldP spid="40" grpId="0" animBg="1"/>
      <p:bldP spid="41" grpId="0"/>
      <p:bldP spid="42" grpId="0"/>
      <p:bldP spid="43" grpId="0"/>
      <p:bldP spid="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C06C-64CF-3F1D-14AE-038AEF9F4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60525" cy="1077219"/>
          </a:xfrm>
        </p:spPr>
        <p:txBody>
          <a:bodyPr>
            <a:normAutofit/>
          </a:bodyPr>
          <a:lstStyle/>
          <a:p>
            <a:r>
              <a:rPr lang="en-US"/>
              <a:t>Background: Large Language Models</a:t>
            </a:r>
            <a:endParaRPr lang="en-B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D4399E5-5ACC-AE59-FE96-7A97AD83EA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7482" y="1321184"/>
                <a:ext cx="9477474" cy="47395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76200">
                <a:solidFill>
                  <a:schemeClr val="accent6">
                    <a:lumMod val="50000"/>
                  </a:schemeClr>
                </a:solidFill>
              </a:ln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𝑳𝑳𝑴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𝑷𝒓𝒐𝒎𝒑𝒕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𝑹𝒆𝒔𝒑𝒐𝒏𝒔𝒆</m:t>
                      </m:r>
                    </m:oMath>
                  </m:oMathPara>
                </a14:m>
                <a:endParaRPr lang="en-BE" b="1" i="1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D4399E5-5ACC-AE59-FE96-7A97AD83E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82" y="1321184"/>
                <a:ext cx="9477474" cy="473955"/>
              </a:xfrm>
              <a:prstGeom prst="rect">
                <a:avLst/>
              </a:prstGeom>
              <a:blipFill>
                <a:blip r:embed="rId2"/>
                <a:stretch>
                  <a:fillRect b="-2222"/>
                </a:stretch>
              </a:blipFill>
              <a:ln w="76200"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62B02D-5C5D-DBC7-C69D-4D812459829A}"/>
                  </a:ext>
                </a:extLst>
              </p:cNvPr>
              <p:cNvSpPr txBox="1"/>
              <p:nvPr/>
            </p:nvSpPr>
            <p:spPr>
              <a:xfrm>
                <a:off x="838201" y="2295079"/>
                <a:ext cx="5352515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/>
                  <a:t>In-Context Learning (ICL): </a:t>
                </a:r>
              </a:p>
              <a:p>
                <a:r>
                  <a:rPr lang="en-GB" sz="3200" dirty="0">
                    <a:ea typeface="+mn-lt"/>
                    <a:cs typeface="+mn-lt"/>
                  </a:rPr>
                  <a:t>An emergent ability of modern LLMs (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≥</m:t>
                    </m:r>
                  </m:oMath>
                </a14:m>
                <a:r>
                  <a:rPr lang="en-GB" sz="3200" dirty="0">
                    <a:ea typeface="+mn-lt"/>
                    <a:cs typeface="+mn-lt"/>
                  </a:rPr>
                  <a:t>GPT-3).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62B02D-5C5D-DBC7-C69D-4D8124598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2295079"/>
                <a:ext cx="5352515" cy="1569660"/>
              </a:xfrm>
              <a:prstGeom prst="rect">
                <a:avLst/>
              </a:prstGeom>
              <a:blipFill>
                <a:blip r:embed="rId4"/>
                <a:stretch>
                  <a:fillRect l="-2961" t="-5039" r="-2847" b="-120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C0D1BF-B10D-C8EA-ED1D-1F59ABE6F878}"/>
                  </a:ext>
                </a:extLst>
              </p:cNvPr>
              <p:cNvSpPr txBox="1"/>
              <p:nvPr/>
            </p:nvSpPr>
            <p:spPr>
              <a:xfrm>
                <a:off x="709545" y="4264415"/>
                <a:ext cx="5280707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lt"/>
                    <a:cs typeface="+mn-lt"/>
                  </a:rPr>
                  <a:t>Task Learning: </a:t>
                </a:r>
                <a:endParaRPr kumimoji="0" lang="en-US" sz="3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  <a:p>
                <a:pPr marR="0" lvl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𝐿𝐿𝑀</m:t>
                      </m:r>
                      <m:d>
                        <m:dPr>
                          <m:ctrlP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dPr>
                        <m:e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𝐶</m:t>
                          </m:r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⊕</m:t>
                          </m:r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𝑄</m:t>
                          </m:r>
                        </m:e>
                      </m:d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≈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𝑅</m:t>
                      </m:r>
                    </m:oMath>
                  </m:oMathPara>
                </a14:m>
                <a:endParaRPr kumimoji="0" lang="en-GB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  <a:p>
                <a:endParaRPr lang="en-BE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C0D1BF-B10D-C8EA-ED1D-1F59ABE6F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45" y="4264415"/>
                <a:ext cx="5280707" cy="1785104"/>
              </a:xfrm>
              <a:prstGeom prst="rect">
                <a:avLst/>
              </a:prstGeom>
              <a:blipFill>
                <a:blip r:embed="rId5"/>
                <a:stretch>
                  <a:fillRect l="-3114" t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266537-02A1-30AC-7036-F578B968C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9</a:t>
            </a:fld>
            <a:endParaRPr lang="en-B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45571A-62BD-674E-9931-1F98F9636B17}"/>
              </a:ext>
            </a:extLst>
          </p:cNvPr>
          <p:cNvSpPr txBox="1"/>
          <p:nvPr/>
        </p:nvSpPr>
        <p:spPr>
          <a:xfrm>
            <a:off x="8862441" y="5869934"/>
            <a:ext cx="32690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https://chatgpt.com/share/431e9c84-1fe4-412e-aa91-1f9f00063e9d</a:t>
            </a:r>
            <a:endParaRPr lang="en-BE" sz="9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854A241-7DF6-E823-F683-5DDDF69080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649" y="2078790"/>
            <a:ext cx="3067643" cy="3791144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5753CBF-4BED-9AB6-45B6-3DA00F31875A}"/>
              </a:ext>
            </a:extLst>
          </p:cNvPr>
          <p:cNvSpPr/>
          <p:nvPr/>
        </p:nvSpPr>
        <p:spPr>
          <a:xfrm>
            <a:off x="2640562" y="5043202"/>
            <a:ext cx="382555" cy="573870"/>
          </a:xfrm>
          <a:prstGeom prst="round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EC0A2DB-391B-4CAF-CD56-94083B78B682}"/>
              </a:ext>
            </a:extLst>
          </p:cNvPr>
          <p:cNvSpPr/>
          <p:nvPr/>
        </p:nvSpPr>
        <p:spPr>
          <a:xfrm>
            <a:off x="10568940" y="2213256"/>
            <a:ext cx="1353576" cy="1874803"/>
          </a:xfrm>
          <a:prstGeom prst="round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D586433-8487-C230-83B9-47462DB4AE50}"/>
              </a:ext>
            </a:extLst>
          </p:cNvPr>
          <p:cNvSpPr/>
          <p:nvPr/>
        </p:nvSpPr>
        <p:spPr>
          <a:xfrm>
            <a:off x="3610946" y="5016024"/>
            <a:ext cx="382555" cy="646538"/>
          </a:xfrm>
          <a:prstGeom prst="round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5E13207-6D90-69BA-1D40-75096911BBAC}"/>
              </a:ext>
            </a:extLst>
          </p:cNvPr>
          <p:cNvSpPr/>
          <p:nvPr/>
        </p:nvSpPr>
        <p:spPr>
          <a:xfrm>
            <a:off x="10637520" y="4131682"/>
            <a:ext cx="813268" cy="265466"/>
          </a:xfrm>
          <a:prstGeom prst="round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E96692-763A-FC84-2784-6EC925C3C5B1}"/>
              </a:ext>
            </a:extLst>
          </p:cNvPr>
          <p:cNvSpPr/>
          <p:nvPr/>
        </p:nvSpPr>
        <p:spPr>
          <a:xfrm>
            <a:off x="9582539" y="5299795"/>
            <a:ext cx="2339977" cy="4632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7" name="Rectangle: Rounded Corners 18">
            <a:extLst>
              <a:ext uri="{FF2B5EF4-FFF2-40B4-BE49-F238E27FC236}">
                <a16:creationId xmlns:a16="http://schemas.microsoft.com/office/drawing/2014/main" id="{89F6F3AC-F286-09E0-75D1-E933F7C763E5}"/>
              </a:ext>
            </a:extLst>
          </p:cNvPr>
          <p:cNvSpPr/>
          <p:nvPr/>
        </p:nvSpPr>
        <p:spPr>
          <a:xfrm>
            <a:off x="4723020" y="5016024"/>
            <a:ext cx="382555" cy="646538"/>
          </a:xfrm>
          <a:prstGeom prst="round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0" name="Rectangle: Rounded Corners 18">
            <a:extLst>
              <a:ext uri="{FF2B5EF4-FFF2-40B4-BE49-F238E27FC236}">
                <a16:creationId xmlns:a16="http://schemas.microsoft.com/office/drawing/2014/main" id="{79803A54-D595-EA1D-7C42-216B478AD102}"/>
              </a:ext>
            </a:extLst>
          </p:cNvPr>
          <p:cNvSpPr/>
          <p:nvPr/>
        </p:nvSpPr>
        <p:spPr>
          <a:xfrm>
            <a:off x="9472373" y="5193160"/>
            <a:ext cx="847284" cy="640615"/>
          </a:xfrm>
          <a:prstGeom prst="round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EE200A-38ED-61B8-0907-681D248DC2E5}"/>
              </a:ext>
            </a:extLst>
          </p:cNvPr>
          <p:cNvSpPr txBox="1"/>
          <p:nvPr/>
        </p:nvSpPr>
        <p:spPr>
          <a:xfrm>
            <a:off x="4549123" y="2866797"/>
            <a:ext cx="4948521" cy="21236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914400" indent="-914400">
              <a:buFont typeface="+mj-lt"/>
              <a:buAutoNum type="arabicPeriod"/>
            </a:pPr>
            <a:r>
              <a:rPr lang="en-GB" sz="4400" dirty="0">
                <a:ea typeface="+mn-lt"/>
                <a:cs typeface="+mn-lt"/>
              </a:rPr>
              <a:t>What examples?</a:t>
            </a:r>
          </a:p>
          <a:p>
            <a:pPr marL="914400" indent="-914400">
              <a:buFont typeface="+mj-lt"/>
              <a:buAutoNum type="arabicPeriod"/>
            </a:pPr>
            <a:r>
              <a:rPr lang="en-GB" sz="4400" dirty="0">
                <a:ea typeface="+mn-lt"/>
                <a:cs typeface="+mn-lt"/>
              </a:rPr>
              <a:t>How many?</a:t>
            </a:r>
          </a:p>
          <a:p>
            <a:pPr marL="914400" indent="-914400">
              <a:buFont typeface="+mj-lt"/>
              <a:buAutoNum type="arabicPeriod"/>
            </a:pPr>
            <a:r>
              <a:rPr lang="en-GB" sz="4400" dirty="0">
                <a:ea typeface="+mn-lt"/>
                <a:cs typeface="+mn-lt"/>
              </a:rPr>
              <a:t>In what order? </a:t>
            </a:r>
          </a:p>
        </p:txBody>
      </p:sp>
    </p:spTree>
    <p:extLst>
      <p:ext uri="{BB962C8B-B14F-4D97-AF65-F5344CB8AC3E}">
        <p14:creationId xmlns:p14="http://schemas.microsoft.com/office/powerpoint/2010/main" val="202305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3" grpId="0"/>
      <p:bldP spid="9" grpId="0"/>
      <p:bldP spid="17" grpId="0" animBg="1"/>
      <p:bldP spid="18" grpId="0" animBg="1"/>
      <p:bldP spid="19" grpId="0" animBg="1"/>
      <p:bldP spid="20" grpId="0" animBg="1"/>
      <p:bldP spid="4" grpId="0" animBg="1"/>
      <p:bldP spid="7" grpId="0" animBg="1"/>
      <p:bldP spid="10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789D287-1E3C-7CA2-5E91-029568C489E6}"/>
              </a:ext>
            </a:extLst>
          </p:cNvPr>
          <p:cNvSpPr/>
          <p:nvPr/>
        </p:nvSpPr>
        <p:spPr>
          <a:xfrm>
            <a:off x="0" y="1463460"/>
            <a:ext cx="12192000" cy="109916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ABF5303-C5D8-A1F0-D482-A67A8DAFE5E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53136" y="220403"/>
                <a:ext cx="10515600" cy="1325563"/>
              </a:xfrm>
            </p:spPr>
            <p:txBody>
              <a:bodyPr/>
              <a:lstStyle/>
              <a:p>
                <a:r>
                  <a:rPr lang="en-GB" u="sng"/>
                  <a:t>How to choose </a:t>
                </a:r>
                <a14:m>
                  <m:oMath xmlns:m="http://schemas.openxmlformats.org/officeDocument/2006/math">
                    <m:r>
                      <a:rPr lang="en-US" sz="4400" b="0" i="1" u="sng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𝐶</m:t>
                    </m:r>
                  </m:oMath>
                </a14:m>
                <a:r>
                  <a:rPr lang="en-GB" u="sng"/>
                  <a:t>?</a:t>
                </a:r>
                <a:endParaRPr lang="en-BE" u="sng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ABF5303-C5D8-A1F0-D482-A67A8DAFE5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53136" y="220403"/>
                <a:ext cx="10515600" cy="1325563"/>
              </a:xfrm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9876A-1751-67E5-5D56-5FE29AE5C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392" y="2699579"/>
            <a:ext cx="6206849" cy="6608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4400"/>
              <a:t>Retrieval-Augmented ICL</a:t>
            </a:r>
            <a:endParaRPr lang="en-US" sz="440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1BCB1F1-427A-9C96-CDAD-A8F82985E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10</a:t>
            </a:fld>
            <a:endParaRPr lang="en-BE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08533B03-D618-B990-AB89-856E3ABEA452}"/>
              </a:ext>
            </a:extLst>
          </p:cNvPr>
          <p:cNvSpPr/>
          <p:nvPr/>
        </p:nvSpPr>
        <p:spPr>
          <a:xfrm>
            <a:off x="787378" y="3087716"/>
            <a:ext cx="1178158" cy="13682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Gill Sans Nova" panose="020B06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5307BDE-4FFC-FF5B-8356-60BE728E77B7}"/>
                  </a:ext>
                </a:extLst>
              </p:cNvPr>
              <p:cNvSpPr txBox="1"/>
              <p:nvPr/>
            </p:nvSpPr>
            <p:spPr>
              <a:xfrm>
                <a:off x="780738" y="3618051"/>
                <a:ext cx="1184798" cy="471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6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Q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j</m:t>
                                      </m:r>
                                    </m:sub>
                                  </m:sSub>
                                  <m:r>
                                    <a:rPr lang="en-US" sz="1600" b="0" i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j</m:t>
                          </m:r>
                          <m:r>
                            <a:rPr lang="en-US" sz="16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n</m:t>
                          </m:r>
                        </m:sup>
                      </m:sSubSup>
                    </m:oMath>
                  </m:oMathPara>
                </a14:m>
                <a:endParaRPr lang="en-BE" sz="1600">
                  <a:solidFill>
                    <a:schemeClr val="bg2"/>
                  </a:solidFill>
                  <a:latin typeface="Gill Sans Nova" panose="020B0602020104020203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5307BDE-4FFC-FF5B-8356-60BE728E7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38" y="3618051"/>
                <a:ext cx="1184798" cy="471860"/>
              </a:xfrm>
              <a:prstGeom prst="rect">
                <a:avLst/>
              </a:prstGeom>
              <a:blipFill>
                <a:blip r:embed="rId3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6AA7DF0-F7CA-1FE9-65C1-154E00F79BC9}"/>
              </a:ext>
            </a:extLst>
          </p:cNvPr>
          <p:cNvCxnSpPr>
            <a:cxnSpLocks/>
          </p:cNvCxnSpPr>
          <p:nvPr/>
        </p:nvCxnSpPr>
        <p:spPr>
          <a:xfrm>
            <a:off x="1337531" y="4527767"/>
            <a:ext cx="0" cy="8279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5A47F95-625B-52A3-692E-F7AE3F376DA4}"/>
                  </a:ext>
                </a:extLst>
              </p:cNvPr>
              <p:cNvSpPr txBox="1"/>
              <p:nvPr/>
            </p:nvSpPr>
            <p:spPr>
              <a:xfrm>
                <a:off x="1055635" y="5249777"/>
                <a:ext cx="57383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𝐶</m:t>
                      </m:r>
                    </m:oMath>
                  </m:oMathPara>
                </a14:m>
                <a:endParaRPr lang="en-BE" sz="4800">
                  <a:solidFill>
                    <a:schemeClr val="accent2">
                      <a:lumMod val="75000"/>
                    </a:schemeClr>
                  </a:solidFill>
                  <a:latin typeface="Gill Sans Nova" panose="020B0602020104020203" pitchFamily="34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5A47F95-625B-52A3-692E-F7AE3F376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635" y="5249777"/>
                <a:ext cx="573831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Graphic 30" descr="Thought with solid fill">
            <a:extLst>
              <a:ext uri="{FF2B5EF4-FFF2-40B4-BE49-F238E27FC236}">
                <a16:creationId xmlns:a16="http://schemas.microsoft.com/office/drawing/2014/main" id="{9ACA4A1F-F9AA-8941-6BAC-BD4ED23704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56953" y="1550653"/>
            <a:ext cx="977980" cy="8779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13F9D9D-D18A-6250-C34D-2935324074BB}"/>
                  </a:ext>
                </a:extLst>
              </p:cNvPr>
              <p:cNvSpPr txBox="1"/>
              <p:nvPr/>
            </p:nvSpPr>
            <p:spPr>
              <a:xfrm>
                <a:off x="1942963" y="1560784"/>
                <a:ext cx="5636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𝐶</m:t>
                      </m:r>
                    </m:oMath>
                  </m:oMathPara>
                </a14:m>
                <a:endParaRPr lang="en-BE" sz="2400">
                  <a:solidFill>
                    <a:schemeClr val="accent2">
                      <a:lumMod val="75000"/>
                    </a:schemeClr>
                  </a:solidFill>
                  <a:latin typeface="Gill Sans Nova" panose="020B0602020104020203" pitchFamily="34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13F9D9D-D18A-6250-C34D-293532407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2963" y="1560784"/>
                <a:ext cx="56362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917F910-7612-26F0-FC99-EBB8A455A88F}"/>
              </a:ext>
            </a:extLst>
          </p:cNvPr>
          <p:cNvSpPr txBox="1"/>
          <p:nvPr/>
        </p:nvSpPr>
        <p:spPr>
          <a:xfrm>
            <a:off x="3435455" y="1628321"/>
            <a:ext cx="56565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/>
              <a:t>Baseline: Static/Random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C05CB8-0865-3A33-AEB5-04B8FA806166}"/>
              </a:ext>
            </a:extLst>
          </p:cNvPr>
          <p:cNvSpPr/>
          <p:nvPr/>
        </p:nvSpPr>
        <p:spPr>
          <a:xfrm>
            <a:off x="4581784" y="5661878"/>
            <a:ext cx="830423" cy="83099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5040D2D-A761-3D8A-3B18-BD3EB38FE1BE}"/>
              </a:ext>
            </a:extLst>
          </p:cNvPr>
          <p:cNvSpPr/>
          <p:nvPr/>
        </p:nvSpPr>
        <p:spPr>
          <a:xfrm>
            <a:off x="4599992" y="4206124"/>
            <a:ext cx="830423" cy="83099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36A03EF-3E82-D158-8D62-80AAF4C3B3F8}"/>
              </a:ext>
            </a:extLst>
          </p:cNvPr>
          <p:cNvSpPr/>
          <p:nvPr/>
        </p:nvSpPr>
        <p:spPr>
          <a:xfrm>
            <a:off x="4599992" y="4455916"/>
            <a:ext cx="830423" cy="83099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3358CE5-F5F8-C205-B9EA-F67F7FEF97D9}"/>
              </a:ext>
            </a:extLst>
          </p:cNvPr>
          <p:cNvSpPr/>
          <p:nvPr/>
        </p:nvSpPr>
        <p:spPr>
          <a:xfrm>
            <a:off x="4581784" y="4705708"/>
            <a:ext cx="830423" cy="83099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4893CED-5E82-BA5A-A094-56047C01377A}"/>
              </a:ext>
            </a:extLst>
          </p:cNvPr>
          <p:cNvSpPr/>
          <p:nvPr/>
        </p:nvSpPr>
        <p:spPr>
          <a:xfrm>
            <a:off x="6779795" y="5661877"/>
            <a:ext cx="830423" cy="83099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54C0CFC-A9E8-0503-BE94-DE1EED252154}"/>
              </a:ext>
            </a:extLst>
          </p:cNvPr>
          <p:cNvSpPr/>
          <p:nvPr/>
        </p:nvSpPr>
        <p:spPr>
          <a:xfrm>
            <a:off x="6737405" y="4201291"/>
            <a:ext cx="830423" cy="83099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827964D-4735-45C3-78CF-117C82754EA4}"/>
              </a:ext>
            </a:extLst>
          </p:cNvPr>
          <p:cNvSpPr/>
          <p:nvPr/>
        </p:nvSpPr>
        <p:spPr>
          <a:xfrm>
            <a:off x="6737405" y="4453792"/>
            <a:ext cx="830423" cy="83099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EC3A2D1-EDA0-8A9E-9C44-37B8A82D2F59}"/>
              </a:ext>
            </a:extLst>
          </p:cNvPr>
          <p:cNvSpPr/>
          <p:nvPr/>
        </p:nvSpPr>
        <p:spPr>
          <a:xfrm>
            <a:off x="8900886" y="5661876"/>
            <a:ext cx="830423" cy="83099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406C200-01FE-011A-38D0-F7F13B147FF1}"/>
              </a:ext>
            </a:extLst>
          </p:cNvPr>
          <p:cNvSpPr/>
          <p:nvPr/>
        </p:nvSpPr>
        <p:spPr>
          <a:xfrm>
            <a:off x="8874818" y="4201424"/>
            <a:ext cx="830423" cy="83099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68CC518-0CC9-BD5D-82F1-9FE105FF1F86}"/>
              </a:ext>
            </a:extLst>
          </p:cNvPr>
          <p:cNvSpPr/>
          <p:nvPr/>
        </p:nvSpPr>
        <p:spPr>
          <a:xfrm>
            <a:off x="8900887" y="4447890"/>
            <a:ext cx="830423" cy="83099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00F048-6B47-A127-66D1-5C4022F27B12}"/>
              </a:ext>
            </a:extLst>
          </p:cNvPr>
          <p:cNvSpPr/>
          <p:nvPr/>
        </p:nvSpPr>
        <p:spPr>
          <a:xfrm>
            <a:off x="8906620" y="4706336"/>
            <a:ext cx="830423" cy="83099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90ABC00-88E2-7434-323F-A4385AAB2343}"/>
              </a:ext>
            </a:extLst>
          </p:cNvPr>
          <p:cNvSpPr/>
          <p:nvPr/>
        </p:nvSpPr>
        <p:spPr>
          <a:xfrm>
            <a:off x="6750701" y="4705707"/>
            <a:ext cx="830423" cy="830997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F7FE134-1CFB-03D6-71E0-A1C42F7DF2B6}"/>
                  </a:ext>
                </a:extLst>
              </p:cNvPr>
              <p:cNvSpPr txBox="1"/>
              <p:nvPr/>
            </p:nvSpPr>
            <p:spPr>
              <a:xfrm>
                <a:off x="3336432" y="4502281"/>
                <a:ext cx="57383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𝐶</m:t>
                      </m:r>
                    </m:oMath>
                  </m:oMathPara>
                </a14:m>
                <a:endParaRPr lang="en-BE" sz="4800">
                  <a:solidFill>
                    <a:schemeClr val="accent2">
                      <a:lumMod val="75000"/>
                    </a:schemeClr>
                  </a:solidFill>
                  <a:latin typeface="Gill Sans Nova" panose="020B0602020104020203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F7FE134-1CFB-03D6-71E0-A1C42F7DF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432" y="4502281"/>
                <a:ext cx="573831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5EFDDCB-7490-859B-3F79-D3029554CBA3}"/>
                  </a:ext>
                </a:extLst>
              </p:cNvPr>
              <p:cNvSpPr txBox="1"/>
              <p:nvPr/>
            </p:nvSpPr>
            <p:spPr>
              <a:xfrm>
                <a:off x="3336431" y="5587764"/>
                <a:ext cx="57383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𝑄</m:t>
                      </m:r>
                    </m:oMath>
                  </m:oMathPara>
                </a14:m>
                <a:endParaRPr lang="en-BE" sz="4800">
                  <a:solidFill>
                    <a:schemeClr val="accent2">
                      <a:lumMod val="75000"/>
                    </a:schemeClr>
                  </a:solidFill>
                  <a:latin typeface="Gill Sans Nova" panose="020B0602020104020203" pitchFamily="34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5EFDDCB-7490-859B-3F79-D3029554C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431" y="5587764"/>
                <a:ext cx="573831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0647D5-5102-1513-FE8A-7513E7CEB00D}"/>
              </a:ext>
            </a:extLst>
          </p:cNvPr>
          <p:cNvSpPr txBox="1">
            <a:spLocks/>
          </p:cNvSpPr>
          <p:nvPr/>
        </p:nvSpPr>
        <p:spPr>
          <a:xfrm>
            <a:off x="4352553" y="3690814"/>
            <a:ext cx="1372143" cy="4281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/>
              <a:t>Similarity</a:t>
            </a:r>
            <a:endParaRPr lang="en-US" sz="240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499B68B-1806-9A44-7313-7855DBC834DA}"/>
              </a:ext>
            </a:extLst>
          </p:cNvPr>
          <p:cNvSpPr txBox="1">
            <a:spLocks/>
          </p:cNvSpPr>
          <p:nvPr/>
        </p:nvSpPr>
        <p:spPr>
          <a:xfrm>
            <a:off x="6601816" y="3690814"/>
            <a:ext cx="1327159" cy="4281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/>
              <a:t>Diversity</a:t>
            </a:r>
            <a:endParaRPr lang="en-US" sz="240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CF6D05CE-C7E9-B32D-42B9-99EAEA755E37}"/>
              </a:ext>
            </a:extLst>
          </p:cNvPr>
          <p:cNvSpPr txBox="1">
            <a:spLocks/>
          </p:cNvSpPr>
          <p:nvPr/>
        </p:nvSpPr>
        <p:spPr>
          <a:xfrm>
            <a:off x="8700768" y="3690814"/>
            <a:ext cx="1213584" cy="4281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/>
              <a:t>Recency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56485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uiExpand="1" build="p"/>
      <p:bldP spid="4" grpId="0" animBg="1"/>
      <p:bldP spid="19" grpId="0"/>
      <p:bldP spid="19" grpId="1"/>
      <p:bldP spid="23" grpId="0"/>
      <p:bldP spid="32" grpId="0"/>
      <p:bldP spid="9" grpId="0"/>
      <p:bldP spid="6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21" grpId="0" animBg="1"/>
      <p:bldP spid="24" grpId="0" animBg="1"/>
      <p:bldP spid="14" grpId="0" animBg="1"/>
      <p:bldP spid="30" grpId="0"/>
      <p:bldP spid="33" grpId="0"/>
      <p:bldP spid="7" grpId="0" uiExpand="1" build="p"/>
      <p:bldP spid="22" grpId="0" uiExpand="1" build="p"/>
      <p:bldP spid="25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9ACE44F-CDA6-7427-9927-79AE506E16D0}"/>
              </a:ext>
            </a:extLst>
          </p:cNvPr>
          <p:cNvSpPr/>
          <p:nvPr/>
        </p:nvSpPr>
        <p:spPr>
          <a:xfrm>
            <a:off x="0" y="2128520"/>
            <a:ext cx="12192000" cy="290298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7A160A-A6DD-A2A6-D28D-66758DD7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11</a:t>
            </a:fld>
            <a:endParaRPr lang="en-BE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F29371B-C151-D478-B73A-A280F65AB6EC}"/>
              </a:ext>
            </a:extLst>
          </p:cNvPr>
          <p:cNvSpPr txBox="1">
            <a:spLocks/>
          </p:cNvSpPr>
          <p:nvPr/>
        </p:nvSpPr>
        <p:spPr>
          <a:xfrm>
            <a:off x="2805513" y="59935"/>
            <a:ext cx="6580973" cy="6704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Using LLMs as assistants for solving constraint problems </a:t>
            </a:r>
            <a:endParaRPr lang="en-BE" dirty="0"/>
          </a:p>
        </p:txBody>
      </p:sp>
      <p:pic>
        <p:nvPicPr>
          <p:cNvPr id="14" name="Content Placeholder 9" descr="A diagram of a blueprint model">
            <a:extLst>
              <a:ext uri="{FF2B5EF4-FFF2-40B4-BE49-F238E27FC236}">
                <a16:creationId xmlns:a16="http://schemas.microsoft.com/office/drawing/2014/main" id="{DD6BFCDC-BAFF-5279-544E-25776F608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3" y="2432314"/>
            <a:ext cx="8000994" cy="2189285"/>
          </a:xfrm>
          <a:prstGeom prst="rect">
            <a:avLst/>
          </a:prstGeom>
        </p:spPr>
      </p:pic>
      <p:pic>
        <p:nvPicPr>
          <p:cNvPr id="8" name="Graphic 7" descr="Badge Tick with solid fill">
            <a:extLst>
              <a:ext uri="{FF2B5EF4-FFF2-40B4-BE49-F238E27FC236}">
                <a16:creationId xmlns:a16="http://schemas.microsoft.com/office/drawing/2014/main" id="{A796CBEF-54CF-2C17-93AF-9D5169133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5181" y="2267056"/>
            <a:ext cx="714037" cy="714037"/>
          </a:xfrm>
          <a:prstGeom prst="rect">
            <a:avLst/>
          </a:prstGeom>
        </p:spPr>
      </p:pic>
      <p:pic>
        <p:nvPicPr>
          <p:cNvPr id="10" name="Graphic 9" descr="Web design with solid fill">
            <a:extLst>
              <a:ext uri="{FF2B5EF4-FFF2-40B4-BE49-F238E27FC236}">
                <a16:creationId xmlns:a16="http://schemas.microsoft.com/office/drawing/2014/main" id="{160372AF-B66D-8A78-79B1-52EAA522D3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3989" y="4211693"/>
            <a:ext cx="819812" cy="819812"/>
          </a:xfrm>
          <a:prstGeom prst="rect">
            <a:avLst/>
          </a:prstGeom>
        </p:spPr>
      </p:pic>
      <p:pic>
        <p:nvPicPr>
          <p:cNvPr id="12" name="Graphic 11" descr="User with solid fill">
            <a:extLst>
              <a:ext uri="{FF2B5EF4-FFF2-40B4-BE49-F238E27FC236}">
                <a16:creationId xmlns:a16="http://schemas.microsoft.com/office/drawing/2014/main" id="{F47EE2D5-479A-B221-F736-E37471CD3F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81103" y="235100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30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7C8FAA-D664-054F-DB52-BFED6E501943}"/>
              </a:ext>
            </a:extLst>
          </p:cNvPr>
          <p:cNvSpPr/>
          <p:nvPr/>
        </p:nvSpPr>
        <p:spPr>
          <a:xfrm>
            <a:off x="0" y="4878"/>
            <a:ext cx="12192000" cy="20431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918A07-0366-839A-0A2A-BE51C1519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588" y="365125"/>
            <a:ext cx="4382025" cy="1325563"/>
          </a:xfrm>
        </p:spPr>
        <p:txBody>
          <a:bodyPr>
            <a:normAutofit/>
          </a:bodyPr>
          <a:lstStyle/>
          <a:p>
            <a:r>
              <a:rPr lang="en-US" dirty="0"/>
              <a:t>1. LLMs as solvers</a:t>
            </a:r>
            <a:endParaRPr lang="en-BE" dirty="0"/>
          </a:p>
        </p:txBody>
      </p:sp>
      <p:pic>
        <p:nvPicPr>
          <p:cNvPr id="4" name="Content Placeholder 9" descr="A diagram of a blueprint model&#10;&#10;Description automatically generated">
            <a:extLst>
              <a:ext uri="{FF2B5EF4-FFF2-40B4-BE49-F238E27FC236}">
                <a16:creationId xmlns:a16="http://schemas.microsoft.com/office/drawing/2014/main" id="{25B856DC-221F-3893-B557-1FC4BBA58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382" y="2778231"/>
            <a:ext cx="9161236" cy="250675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28ABCEC-1880-1765-67B8-882003EDFC32}"/>
              </a:ext>
            </a:extLst>
          </p:cNvPr>
          <p:cNvSpPr/>
          <p:nvPr/>
        </p:nvSpPr>
        <p:spPr>
          <a:xfrm>
            <a:off x="5892887" y="2782896"/>
            <a:ext cx="1083834" cy="66943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66C2798-A7BD-AFEE-CAAA-2E0C913C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12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5816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7C8FAA-D664-054F-DB52-BFED6E501943}"/>
              </a:ext>
            </a:extLst>
          </p:cNvPr>
          <p:cNvSpPr/>
          <p:nvPr/>
        </p:nvSpPr>
        <p:spPr>
          <a:xfrm>
            <a:off x="0" y="4878"/>
            <a:ext cx="12192000" cy="20431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918A07-0366-839A-0A2A-BE51C1519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588" y="365125"/>
            <a:ext cx="4382025" cy="1325563"/>
          </a:xfrm>
        </p:spPr>
        <p:txBody>
          <a:bodyPr>
            <a:normAutofit/>
          </a:bodyPr>
          <a:lstStyle/>
          <a:p>
            <a:r>
              <a:rPr lang="en-US"/>
              <a:t>1. LLMs as solvers</a:t>
            </a:r>
            <a:endParaRPr lang="en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DD8BDC-4E7F-2273-2D79-3EF8ACA780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4777" y="3373352"/>
                <a:ext cx="4754596" cy="61020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4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4000" i="1">
                          <a:latin typeface="Cambria Math" panose="02040503050406030204" pitchFamily="18" charset="0"/>
                        </a:rPr>
                        <m:t>𝐿𝐿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pt-BR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pt-BR" sz="400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</m:oMath>
                  </m:oMathPara>
                </a14:m>
                <a:endParaRPr lang="en-US" sz="4000" b="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DD8BDC-4E7F-2273-2D79-3EF8ACA780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4777" y="3373352"/>
                <a:ext cx="4754596" cy="61020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9" descr="A diagram of a blueprint model&#10;&#10;Description automatically generated">
            <a:extLst>
              <a:ext uri="{FF2B5EF4-FFF2-40B4-BE49-F238E27FC236}">
                <a16:creationId xmlns:a16="http://schemas.microsoft.com/office/drawing/2014/main" id="{25B856DC-221F-3893-B557-1FC4BBA58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580" y="269164"/>
            <a:ext cx="5857464" cy="160275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28ABCEC-1880-1765-67B8-882003EDFC32}"/>
              </a:ext>
            </a:extLst>
          </p:cNvPr>
          <p:cNvSpPr/>
          <p:nvPr/>
        </p:nvSpPr>
        <p:spPr>
          <a:xfrm>
            <a:off x="8541904" y="269164"/>
            <a:ext cx="927370" cy="42801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8EBF9EE-D547-A540-B348-7405984FE0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3657745"/>
                  </p:ext>
                </p:extLst>
              </p:nvPr>
            </p:nvGraphicFramePr>
            <p:xfrm>
              <a:off x="5429373" y="2512948"/>
              <a:ext cx="6576823" cy="2591829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376132">
                      <a:extLst>
                        <a:ext uri="{9D8B030D-6E8A-4147-A177-3AD203B41FA5}">
                          <a16:colId xmlns:a16="http://schemas.microsoft.com/office/drawing/2014/main" val="2706320512"/>
                        </a:ext>
                      </a:extLst>
                    </a:gridCol>
                    <a:gridCol w="2541061">
                      <a:extLst>
                        <a:ext uri="{9D8B030D-6E8A-4147-A177-3AD203B41FA5}">
                          <a16:colId xmlns:a16="http://schemas.microsoft.com/office/drawing/2014/main" val="2804090444"/>
                        </a:ext>
                      </a:extLst>
                    </a:gridCol>
                    <a:gridCol w="3659630">
                      <a:extLst>
                        <a:ext uri="{9D8B030D-6E8A-4147-A177-3AD203B41FA5}">
                          <a16:colId xmlns:a16="http://schemas.microsoft.com/office/drawing/2014/main" val="342112926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oMath>
                            </m:oMathPara>
                          </a14:m>
                          <a:endParaRPr lang="en-BE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smtClean="0"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</m:e>
                                <m:sub>
                                  <m:r>
                                    <a:rPr lang="en-US" sz="2000" b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/>
                            <a:t> (Problem</a:t>
                          </a:r>
                          <a:r>
                            <a:rPr lang="en-US" sz="2000" baseline="0"/>
                            <a:t> Desc)</a:t>
                          </a:r>
                          <a:endParaRPr lang="en-BE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smtClean="0"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sz="2000" b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/>
                            <a:t> (CoT solution)</a:t>
                          </a:r>
                          <a:endParaRPr lang="en-BE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3912734"/>
                      </a:ext>
                    </a:extLst>
                  </a:tr>
                  <a:tr h="115651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i="0" kern="1200">
                              <a:solidFill>
                                <a:schemeClr val="dk1"/>
                              </a:solidFill>
                              <a:effectLst/>
                            </a:rPr>
                            <a:t>A popular actor…</a:t>
                          </a:r>
                        </a:p>
                        <a:p>
                          <a:pPr algn="l"/>
                          <a:endParaRPr lang="en-US" sz="2000" i="0" kern="120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l"/>
                          <a:r>
                            <a:rPr lang="en-US" sz="200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Which movies to choose?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Let’s think step by step…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Thus, the final solution is: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{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𝑚𝑜𝑣𝑖𝑒</m:t>
                              </m:r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oMath>
                          </a14:m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𝑚𝑜𝑣𝑖𝑒</m:t>
                              </m:r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0, </m:t>
                              </m:r>
                            </m:oMath>
                          </a14:m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…}</a:t>
                          </a:r>
                        </a:p>
                        <a:p>
                          <a:endParaRPr lang="en-US" sz="1000">
                            <a:solidFill>
                              <a:srgbClr val="BCBEC4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07473574"/>
                      </a:ext>
                    </a:extLst>
                  </a:tr>
                  <a:tr h="415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44419779"/>
                      </a:ext>
                    </a:extLst>
                  </a:tr>
                  <a:tr h="4097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62660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8EBF9EE-D547-A540-B348-7405984FE0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3657745"/>
                  </p:ext>
                </p:extLst>
              </p:nvPr>
            </p:nvGraphicFramePr>
            <p:xfrm>
              <a:off x="5429373" y="2512948"/>
              <a:ext cx="6576823" cy="2591829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376132">
                      <a:extLst>
                        <a:ext uri="{9D8B030D-6E8A-4147-A177-3AD203B41FA5}">
                          <a16:colId xmlns:a16="http://schemas.microsoft.com/office/drawing/2014/main" val="2706320512"/>
                        </a:ext>
                      </a:extLst>
                    </a:gridCol>
                    <a:gridCol w="2541061">
                      <a:extLst>
                        <a:ext uri="{9D8B030D-6E8A-4147-A177-3AD203B41FA5}">
                          <a16:colId xmlns:a16="http://schemas.microsoft.com/office/drawing/2014/main" val="2804090444"/>
                        </a:ext>
                      </a:extLst>
                    </a:gridCol>
                    <a:gridCol w="3659630">
                      <a:extLst>
                        <a:ext uri="{9D8B030D-6E8A-4147-A177-3AD203B41FA5}">
                          <a16:colId xmlns:a16="http://schemas.microsoft.com/office/drawing/2014/main" val="3421129262"/>
                        </a:ext>
                      </a:extLst>
                    </a:gridCol>
                  </a:tblGrid>
                  <a:tr h="4250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613" t="-5714" r="-1648387" b="-53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5108" t="-5714" r="-145084" b="-53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9867" t="-5714" r="-666" b="-53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3912734"/>
                      </a:ext>
                    </a:extLst>
                  </a:tr>
                  <a:tr h="1341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613" t="-33636" r="-1648387" b="-6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i="0" kern="1200">
                              <a:solidFill>
                                <a:schemeClr val="dk1"/>
                              </a:solidFill>
                              <a:effectLst/>
                            </a:rPr>
                            <a:t>A popular actor…</a:t>
                          </a:r>
                        </a:p>
                        <a:p>
                          <a:pPr algn="l"/>
                          <a:endParaRPr lang="en-US" sz="2000" i="0" kern="120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l"/>
                          <a:r>
                            <a:rPr lang="en-US" sz="200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Which movies to choose?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9867" t="-33636" r="-666" b="-6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7473574"/>
                      </a:ext>
                    </a:extLst>
                  </a:tr>
                  <a:tr h="415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44419779"/>
                      </a:ext>
                    </a:extLst>
                  </a:tr>
                  <a:tr h="409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613" t="-541791" r="-1648387" b="-23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62660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66C2798-A7BD-AFEE-CAAA-2E0C913C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13</a:t>
            </a:fld>
            <a:endParaRPr lang="en-BE"/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12C2348C-5989-4451-1D32-A25CB336F385}"/>
              </a:ext>
            </a:extLst>
          </p:cNvPr>
          <p:cNvSpPr/>
          <p:nvPr/>
        </p:nvSpPr>
        <p:spPr>
          <a:xfrm>
            <a:off x="7952914" y="4327480"/>
            <a:ext cx="1184798" cy="148421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Gill Sans Nova" panose="020B06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4EAA2D-8A7D-7BAC-3EB8-1168A4B83572}"/>
                  </a:ext>
                </a:extLst>
              </p:cNvPr>
              <p:cNvSpPr txBox="1"/>
              <p:nvPr/>
            </p:nvSpPr>
            <p:spPr>
              <a:xfrm>
                <a:off x="7946274" y="4852660"/>
                <a:ext cx="1184798" cy="471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6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Q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j</m:t>
                                      </m:r>
                                    </m:sub>
                                  </m:sSub>
                                  <m:r>
                                    <a:rPr lang="en-US" sz="1600" b="0" i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j</m:t>
                          </m:r>
                          <m:r>
                            <a:rPr lang="en-US" sz="16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n</m:t>
                          </m:r>
                        </m:sup>
                      </m:sSubSup>
                    </m:oMath>
                  </m:oMathPara>
                </a14:m>
                <a:endParaRPr lang="en-BE" sz="1600">
                  <a:solidFill>
                    <a:schemeClr val="bg2"/>
                  </a:solidFill>
                  <a:latin typeface="Gill Sans Nova" panose="020B0602020104020203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4EAA2D-8A7D-7BAC-3EB8-1168A4B83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6274" y="4852660"/>
                <a:ext cx="1184798" cy="471860"/>
              </a:xfrm>
              <a:prstGeom prst="rect">
                <a:avLst/>
              </a:prstGeom>
              <a:blipFill>
                <a:blip r:embed="rId5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8FF3E5BD-838B-10C4-EC1D-BA8117511CBA}"/>
              </a:ext>
            </a:extLst>
          </p:cNvPr>
          <p:cNvCxnSpPr>
            <a:cxnSpLocks/>
            <a:stCxn id="7" idx="3"/>
          </p:cNvCxnSpPr>
          <p:nvPr/>
        </p:nvCxnSpPr>
        <p:spPr>
          <a:xfrm rot="5400000" flipH="1">
            <a:off x="5109100" y="2375480"/>
            <a:ext cx="1828138" cy="5044288"/>
          </a:xfrm>
          <a:prstGeom prst="curvedConnector4">
            <a:avLst>
              <a:gd name="adj1" fmla="val -12505"/>
              <a:gd name="adj2" fmla="val 99825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673AE84-707D-3C52-DE2B-2524F2189089}"/>
              </a:ext>
            </a:extLst>
          </p:cNvPr>
          <p:cNvSpPr txBox="1"/>
          <p:nvPr/>
        </p:nvSpPr>
        <p:spPr>
          <a:xfrm>
            <a:off x="1440005" y="2077413"/>
            <a:ext cx="3300608" cy="830997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Solution generated with Chain-of-Thought</a:t>
            </a:r>
            <a:endParaRPr lang="en-BE" sz="2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C06C1B-5972-BF0B-D0EF-AE078F720AB6}"/>
              </a:ext>
            </a:extLst>
          </p:cNvPr>
          <p:cNvSpPr/>
          <p:nvPr/>
        </p:nvSpPr>
        <p:spPr>
          <a:xfrm>
            <a:off x="1020871" y="3429000"/>
            <a:ext cx="569934" cy="554555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1243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8" grpId="0"/>
      <p:bldP spid="18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7C8FAA-D664-054F-DB52-BFED6E501943}"/>
              </a:ext>
            </a:extLst>
          </p:cNvPr>
          <p:cNvSpPr/>
          <p:nvPr/>
        </p:nvSpPr>
        <p:spPr>
          <a:xfrm>
            <a:off x="0" y="4878"/>
            <a:ext cx="12192000" cy="20431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918A07-0366-839A-0A2A-BE51C1519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588" y="365125"/>
            <a:ext cx="5818277" cy="1325563"/>
          </a:xfrm>
        </p:spPr>
        <p:txBody>
          <a:bodyPr>
            <a:normAutofit/>
          </a:bodyPr>
          <a:lstStyle/>
          <a:p>
            <a:r>
              <a:rPr lang="en-US" dirty="0"/>
              <a:t>2. LLMs as modellers</a:t>
            </a:r>
            <a:endParaRPr lang="en-BE" dirty="0"/>
          </a:p>
        </p:txBody>
      </p:sp>
      <p:pic>
        <p:nvPicPr>
          <p:cNvPr id="4" name="Content Placeholder 9" descr="A diagram of a blueprint model&#10;&#10;Description automatically generated">
            <a:extLst>
              <a:ext uri="{FF2B5EF4-FFF2-40B4-BE49-F238E27FC236}">
                <a16:creationId xmlns:a16="http://schemas.microsoft.com/office/drawing/2014/main" id="{25B856DC-221F-3893-B557-1FC4BBA58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382" y="2778231"/>
            <a:ext cx="9161236" cy="250675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28ABCEC-1880-1765-67B8-882003EDFC32}"/>
              </a:ext>
            </a:extLst>
          </p:cNvPr>
          <p:cNvSpPr/>
          <p:nvPr/>
        </p:nvSpPr>
        <p:spPr>
          <a:xfrm>
            <a:off x="5930210" y="3413498"/>
            <a:ext cx="1083834" cy="66943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66C2798-A7BD-AFEE-CAAA-2E0C913C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14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91533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7C8FAA-D664-054F-DB52-BFED6E501943}"/>
              </a:ext>
            </a:extLst>
          </p:cNvPr>
          <p:cNvSpPr/>
          <p:nvPr/>
        </p:nvSpPr>
        <p:spPr>
          <a:xfrm>
            <a:off x="0" y="4878"/>
            <a:ext cx="12192000" cy="20431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4" name="Content Placeholder 9" descr="A diagram of a blueprint model&#10;&#10;Description automatically generated">
            <a:extLst>
              <a:ext uri="{FF2B5EF4-FFF2-40B4-BE49-F238E27FC236}">
                <a16:creationId xmlns:a16="http://schemas.microsoft.com/office/drawing/2014/main" id="{25B856DC-221F-3893-B557-1FC4BBA58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580" y="269164"/>
            <a:ext cx="5857464" cy="160275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28ABCEC-1880-1765-67B8-882003EDFC32}"/>
              </a:ext>
            </a:extLst>
          </p:cNvPr>
          <p:cNvSpPr/>
          <p:nvPr/>
        </p:nvSpPr>
        <p:spPr>
          <a:xfrm>
            <a:off x="8541904" y="716772"/>
            <a:ext cx="927370" cy="42801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66C2798-A7BD-AFEE-CAAA-2E0C913C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15</a:t>
            </a:fld>
            <a:endParaRPr lang="en-BE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4797EE6-1BD9-E8CB-D75A-0E8512C51042}"/>
              </a:ext>
            </a:extLst>
          </p:cNvPr>
          <p:cNvSpPr txBox="1">
            <a:spLocks/>
          </p:cNvSpPr>
          <p:nvPr/>
        </p:nvSpPr>
        <p:spPr>
          <a:xfrm>
            <a:off x="358588" y="365125"/>
            <a:ext cx="4976036" cy="1325563"/>
          </a:xfrm>
          <a:prstGeom prst="rect">
            <a:avLst/>
          </a:prstGeom>
          <a:noFill/>
          <a:ln w="5080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2. LLMs as modellers</a:t>
            </a:r>
            <a:endParaRPr lang="en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BBE7EEB2-D196-0BCC-DFEF-8C27AD30BB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5192" y="2692835"/>
                <a:ext cx="4897367" cy="17789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3200"/>
                  <a:t>Generation of CP models: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320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𝐶𝑃</m:t>
                          </m:r>
                        </m:sub>
                      </m:sSub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𝐿𝐿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</m:oMath>
                  </m:oMathPara>
                </a14:m>
                <a:endParaRPr lang="en-US" sz="320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BBE7EEB2-D196-0BCC-DFEF-8C27AD30B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92" y="2692835"/>
                <a:ext cx="4897367" cy="1778957"/>
              </a:xfrm>
              <a:prstGeom prst="rect">
                <a:avLst/>
              </a:prstGeom>
              <a:blipFill>
                <a:blip r:embed="rId3"/>
                <a:stretch>
                  <a:fillRect l="-3109" t="-71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7F571B3-4579-6F12-2F77-9655B874C8B6}"/>
                  </a:ext>
                </a:extLst>
              </p:cNvPr>
              <p:cNvSpPr txBox="1"/>
              <p:nvPr/>
            </p:nvSpPr>
            <p:spPr>
              <a:xfrm>
                <a:off x="1639682" y="4725905"/>
                <a:ext cx="28369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𝑪𝑷</m:t>
                          </m:r>
                        </m:sub>
                      </m:sSub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7F571B3-4579-6F12-2F77-9655B874C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682" y="4725905"/>
                <a:ext cx="28369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5A96BF4F-3CC2-9E65-74B7-403F84BE7AD2}"/>
              </a:ext>
            </a:extLst>
          </p:cNvPr>
          <p:cNvSpPr/>
          <p:nvPr/>
        </p:nvSpPr>
        <p:spPr>
          <a:xfrm>
            <a:off x="1891430" y="4647704"/>
            <a:ext cx="2347657" cy="679622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4A0DA211-3F26-3203-7F25-5E764220AB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5242937"/>
                  </p:ext>
                </p:extLst>
              </p:nvPr>
            </p:nvGraphicFramePr>
            <p:xfrm>
              <a:off x="5505189" y="2512948"/>
              <a:ext cx="6501007" cy="2622309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371796">
                      <a:extLst>
                        <a:ext uri="{9D8B030D-6E8A-4147-A177-3AD203B41FA5}">
                          <a16:colId xmlns:a16="http://schemas.microsoft.com/office/drawing/2014/main" val="2706320512"/>
                        </a:ext>
                      </a:extLst>
                    </a:gridCol>
                    <a:gridCol w="2544241">
                      <a:extLst>
                        <a:ext uri="{9D8B030D-6E8A-4147-A177-3AD203B41FA5}">
                          <a16:colId xmlns:a16="http://schemas.microsoft.com/office/drawing/2014/main" val="2804090444"/>
                        </a:ext>
                      </a:extLst>
                    </a:gridCol>
                    <a:gridCol w="3584970">
                      <a:extLst>
                        <a:ext uri="{9D8B030D-6E8A-4147-A177-3AD203B41FA5}">
                          <a16:colId xmlns:a16="http://schemas.microsoft.com/office/drawing/2014/main" val="342112926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oMath>
                            </m:oMathPara>
                          </a14:m>
                          <a:endParaRPr lang="en-BE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smtClean="0"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</m:e>
                                <m:sub>
                                  <m:r>
                                    <a:rPr lang="en-US" sz="2000" b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/>
                            <a:t> (Problem</a:t>
                          </a:r>
                          <a:r>
                            <a:rPr lang="en-US" sz="2000" baseline="0"/>
                            <a:t> Desc)</a:t>
                          </a:r>
                          <a:endParaRPr lang="en-BE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smtClean="0"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sz="2000" b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/>
                            <a:t> (CP Model)</a:t>
                          </a:r>
                          <a:endParaRPr lang="en-BE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3912734"/>
                      </a:ext>
                    </a:extLst>
                  </a:tr>
                  <a:tr h="115651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i="0" kern="1200">
                              <a:solidFill>
                                <a:schemeClr val="dk1"/>
                              </a:solidFill>
                              <a:effectLst/>
                            </a:rPr>
                            <a:t>A popular actor…</a:t>
                          </a:r>
                        </a:p>
                        <a:p>
                          <a:pPr algn="l"/>
                          <a:endParaRPr lang="en-US" sz="2000" i="0" kern="120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l"/>
                          <a:r>
                            <a:rPr lang="en-US" sz="200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Which movies to choose?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50">
                              <a:solidFill>
                                <a:srgbClr val="CF8E6D"/>
                              </a:solidFill>
                              <a:effectLst/>
                            </a:rPr>
                            <a:t>from </a:t>
                          </a:r>
                          <a:r>
                            <a:rPr lang="en-US" sz="1050" err="1">
                              <a:solidFill>
                                <a:srgbClr val="BCBEC4"/>
                              </a:solidFill>
                              <a:effectLst/>
                            </a:rPr>
                            <a:t>cpmpy</a:t>
                          </a:r>
                          <a: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  <a:t> </a:t>
                          </a:r>
                          <a:r>
                            <a:rPr lang="en-US" sz="1050">
                              <a:solidFill>
                                <a:srgbClr val="CF8E6D"/>
                              </a:solidFill>
                              <a:effectLst/>
                            </a:rPr>
                            <a:t>import </a:t>
                          </a:r>
                          <a: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  <a:t>*</a:t>
                          </a:r>
                          <a:b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</a:br>
                          <a:b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</a:br>
                          <a:r>
                            <a:rPr lang="en-US" sz="1050">
                              <a:solidFill>
                                <a:srgbClr val="7A7E85"/>
                              </a:solidFill>
                              <a:effectLst/>
                            </a:rPr>
                            <a:t># Data</a:t>
                          </a:r>
                          <a:br>
                            <a:rPr lang="en-US" sz="1050">
                              <a:solidFill>
                                <a:srgbClr val="7A7E85"/>
                              </a:solidFill>
                              <a:effectLst/>
                            </a:rPr>
                          </a:br>
                          <a: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  <a:t>movies = [{</a:t>
                          </a:r>
                          <a:r>
                            <a:rPr lang="en-US" sz="1050">
                              <a:solidFill>
                                <a:srgbClr val="6AAB73"/>
                              </a:solidFill>
                              <a:effectLst/>
                            </a:rPr>
                            <a:t>"title"</a:t>
                          </a:r>
                          <a: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  <a:t>: </a:t>
                          </a:r>
                          <a:r>
                            <a:rPr lang="en-US" sz="1050">
                              <a:solidFill>
                                <a:srgbClr val="6AAB73"/>
                              </a:solidFill>
                              <a:effectLst/>
                            </a:rPr>
                            <a:t>"</a:t>
                          </a:r>
                          <a:r>
                            <a:rPr lang="en-US" sz="1050" err="1">
                              <a:solidFill>
                                <a:srgbClr val="6AAB73"/>
                              </a:solidFill>
                              <a:effectLst/>
                            </a:rPr>
                            <a:t>Tarjan</a:t>
                          </a:r>
                          <a:r>
                            <a:rPr lang="en-US" sz="1050">
                              <a:solidFill>
                                <a:srgbClr val="6AAB73"/>
                              </a:solidFill>
                              <a:effectLst/>
                            </a:rPr>
                            <a:t> of the Jungle"</a:t>
                          </a:r>
                          <a: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  <a:t>, </a:t>
                          </a:r>
                          <a:r>
                            <a:rPr lang="en-US" sz="1050">
                              <a:solidFill>
                                <a:srgbClr val="6AAB73"/>
                              </a:solidFill>
                              <a:effectLst/>
                            </a:rPr>
                            <a:t>"interval"</a:t>
                          </a:r>
                          <a: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  <a:t>: [</a:t>
                          </a:r>
                          <a:r>
                            <a:rPr lang="en-US" sz="1050">
                              <a:solidFill>
                                <a:srgbClr val="2AACB8"/>
                              </a:solidFill>
                              <a:effectLst/>
                            </a:rPr>
                            <a:t>4</a:t>
                          </a:r>
                          <a: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  <a:t>, </a:t>
                          </a:r>
                          <a:r>
                            <a:rPr lang="en-US" sz="1050">
                              <a:solidFill>
                                <a:srgbClr val="2AACB8"/>
                              </a:solidFill>
                              <a:effectLst/>
                            </a:rPr>
                            <a:t>13</a:t>
                          </a:r>
                          <a: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  <a:t>]}, …]</a:t>
                          </a:r>
                        </a:p>
                        <a:p>
                          <a:r>
                            <a:rPr lang="en-US" sz="1050">
                              <a:solidFill>
                                <a:srgbClr val="7A7E85"/>
                              </a:solidFill>
                              <a:effectLst/>
                            </a:rPr>
                            <a:t># Constraints</a:t>
                          </a:r>
                          <a:endParaRPr lang="en-US" sz="1050">
                            <a:solidFill>
                              <a:srgbClr val="BCBEC4"/>
                            </a:solidFill>
                            <a:effectLst/>
                          </a:endParaRPr>
                        </a:p>
                        <a:p>
                          <a: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  <a:t>…</a:t>
                          </a:r>
                        </a:p>
                        <a:p>
                          <a:r>
                            <a:rPr lang="en-US" sz="1050">
                              <a:solidFill>
                                <a:srgbClr val="7A7E85"/>
                              </a:solidFill>
                              <a:effectLst/>
                            </a:rPr>
                            <a:t># Solve</a:t>
                          </a:r>
                        </a:p>
                        <a:p>
                          <a: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  <a:t>model.solve()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07473574"/>
                      </a:ext>
                    </a:extLst>
                  </a:tr>
                  <a:tr h="415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44419779"/>
                      </a:ext>
                    </a:extLst>
                  </a:tr>
                  <a:tr h="4097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62660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4A0DA211-3F26-3203-7F25-5E764220AB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5242937"/>
                  </p:ext>
                </p:extLst>
              </p:nvPr>
            </p:nvGraphicFramePr>
            <p:xfrm>
              <a:off x="5505189" y="2512948"/>
              <a:ext cx="6501007" cy="2622309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371796">
                      <a:extLst>
                        <a:ext uri="{9D8B030D-6E8A-4147-A177-3AD203B41FA5}">
                          <a16:colId xmlns:a16="http://schemas.microsoft.com/office/drawing/2014/main" val="2706320512"/>
                        </a:ext>
                      </a:extLst>
                    </a:gridCol>
                    <a:gridCol w="2544241">
                      <a:extLst>
                        <a:ext uri="{9D8B030D-6E8A-4147-A177-3AD203B41FA5}">
                          <a16:colId xmlns:a16="http://schemas.microsoft.com/office/drawing/2014/main" val="2804090444"/>
                        </a:ext>
                      </a:extLst>
                    </a:gridCol>
                    <a:gridCol w="3584970">
                      <a:extLst>
                        <a:ext uri="{9D8B030D-6E8A-4147-A177-3AD203B41FA5}">
                          <a16:colId xmlns:a16="http://schemas.microsoft.com/office/drawing/2014/main" val="3421129262"/>
                        </a:ext>
                      </a:extLst>
                    </a:gridCol>
                  </a:tblGrid>
                  <a:tr h="4250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639" t="-5714" r="-1655738" b="-53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833" t="-5714" r="-141627" b="-53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1633" t="-5714" r="-680" b="-53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3912734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639" t="-32889" r="-1655738" b="-67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i="0" kern="1200">
                              <a:solidFill>
                                <a:schemeClr val="dk1"/>
                              </a:solidFill>
                              <a:effectLst/>
                            </a:rPr>
                            <a:t>A popular actor…</a:t>
                          </a:r>
                        </a:p>
                        <a:p>
                          <a:pPr algn="l"/>
                          <a:endParaRPr lang="en-US" sz="2000" i="0" kern="120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l"/>
                          <a:r>
                            <a:rPr lang="en-US" sz="200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Which movies to choose?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50">
                              <a:solidFill>
                                <a:srgbClr val="CF8E6D"/>
                              </a:solidFill>
                              <a:effectLst/>
                            </a:rPr>
                            <a:t>from </a:t>
                          </a:r>
                          <a:r>
                            <a:rPr lang="en-US" sz="1050" err="1">
                              <a:solidFill>
                                <a:srgbClr val="BCBEC4"/>
                              </a:solidFill>
                              <a:effectLst/>
                            </a:rPr>
                            <a:t>cpmpy</a:t>
                          </a:r>
                          <a: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  <a:t> </a:t>
                          </a:r>
                          <a:r>
                            <a:rPr lang="en-US" sz="1050">
                              <a:solidFill>
                                <a:srgbClr val="CF8E6D"/>
                              </a:solidFill>
                              <a:effectLst/>
                            </a:rPr>
                            <a:t>import </a:t>
                          </a:r>
                          <a: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  <a:t>*</a:t>
                          </a:r>
                          <a:b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</a:br>
                          <a:b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</a:br>
                          <a:r>
                            <a:rPr lang="en-US" sz="1050">
                              <a:solidFill>
                                <a:srgbClr val="7A7E85"/>
                              </a:solidFill>
                              <a:effectLst/>
                            </a:rPr>
                            <a:t># Data</a:t>
                          </a:r>
                          <a:br>
                            <a:rPr lang="en-US" sz="1050">
                              <a:solidFill>
                                <a:srgbClr val="7A7E85"/>
                              </a:solidFill>
                              <a:effectLst/>
                            </a:rPr>
                          </a:br>
                          <a: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  <a:t>movies = [{</a:t>
                          </a:r>
                          <a:r>
                            <a:rPr lang="en-US" sz="1050">
                              <a:solidFill>
                                <a:srgbClr val="6AAB73"/>
                              </a:solidFill>
                              <a:effectLst/>
                            </a:rPr>
                            <a:t>"title"</a:t>
                          </a:r>
                          <a: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  <a:t>: </a:t>
                          </a:r>
                          <a:r>
                            <a:rPr lang="en-US" sz="1050">
                              <a:solidFill>
                                <a:srgbClr val="6AAB73"/>
                              </a:solidFill>
                              <a:effectLst/>
                            </a:rPr>
                            <a:t>"</a:t>
                          </a:r>
                          <a:r>
                            <a:rPr lang="en-US" sz="1050" err="1">
                              <a:solidFill>
                                <a:srgbClr val="6AAB73"/>
                              </a:solidFill>
                              <a:effectLst/>
                            </a:rPr>
                            <a:t>Tarjan</a:t>
                          </a:r>
                          <a:r>
                            <a:rPr lang="en-US" sz="1050">
                              <a:solidFill>
                                <a:srgbClr val="6AAB73"/>
                              </a:solidFill>
                              <a:effectLst/>
                            </a:rPr>
                            <a:t> of the Jungle"</a:t>
                          </a:r>
                          <a: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  <a:t>, </a:t>
                          </a:r>
                          <a:r>
                            <a:rPr lang="en-US" sz="1050">
                              <a:solidFill>
                                <a:srgbClr val="6AAB73"/>
                              </a:solidFill>
                              <a:effectLst/>
                            </a:rPr>
                            <a:t>"interval"</a:t>
                          </a:r>
                          <a: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  <a:t>: [</a:t>
                          </a:r>
                          <a:r>
                            <a:rPr lang="en-US" sz="1050">
                              <a:solidFill>
                                <a:srgbClr val="2AACB8"/>
                              </a:solidFill>
                              <a:effectLst/>
                            </a:rPr>
                            <a:t>4</a:t>
                          </a:r>
                          <a: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  <a:t>, </a:t>
                          </a:r>
                          <a:r>
                            <a:rPr lang="en-US" sz="1050">
                              <a:solidFill>
                                <a:srgbClr val="2AACB8"/>
                              </a:solidFill>
                              <a:effectLst/>
                            </a:rPr>
                            <a:t>13</a:t>
                          </a:r>
                          <a: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  <a:t>]}, …]</a:t>
                          </a:r>
                        </a:p>
                        <a:p>
                          <a:r>
                            <a:rPr lang="en-US" sz="1050">
                              <a:solidFill>
                                <a:srgbClr val="7A7E85"/>
                              </a:solidFill>
                              <a:effectLst/>
                            </a:rPr>
                            <a:t># Constraints</a:t>
                          </a:r>
                          <a:endParaRPr lang="en-US" sz="1050">
                            <a:solidFill>
                              <a:srgbClr val="BCBEC4"/>
                            </a:solidFill>
                            <a:effectLst/>
                          </a:endParaRPr>
                        </a:p>
                        <a:p>
                          <a: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  <a:t>…</a:t>
                          </a:r>
                        </a:p>
                        <a:p>
                          <a:r>
                            <a:rPr lang="en-US" sz="1050">
                              <a:solidFill>
                                <a:srgbClr val="7A7E85"/>
                              </a:solidFill>
                              <a:effectLst/>
                            </a:rPr>
                            <a:t># Solve</a:t>
                          </a:r>
                        </a:p>
                        <a:p>
                          <a:r>
                            <a:rPr lang="en-US" sz="1050">
                              <a:solidFill>
                                <a:srgbClr val="BCBEC4"/>
                              </a:solidFill>
                              <a:effectLst/>
                            </a:rPr>
                            <a:t>model.solve()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07473574"/>
                      </a:ext>
                    </a:extLst>
                  </a:tr>
                  <a:tr h="415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44419779"/>
                      </a:ext>
                    </a:extLst>
                  </a:tr>
                  <a:tr h="409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639" t="-549254" r="-1655738" b="-23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62660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6" name="Cylinder 25">
            <a:extLst>
              <a:ext uri="{FF2B5EF4-FFF2-40B4-BE49-F238E27FC236}">
                <a16:creationId xmlns:a16="http://schemas.microsoft.com/office/drawing/2014/main" id="{A93F9BCB-4B0A-7605-90EF-3D5D2B404383}"/>
              </a:ext>
            </a:extLst>
          </p:cNvPr>
          <p:cNvSpPr/>
          <p:nvPr/>
        </p:nvSpPr>
        <p:spPr>
          <a:xfrm>
            <a:off x="7952914" y="4327480"/>
            <a:ext cx="1184798" cy="148421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Gill Sans Nova" panose="020B06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19AD8B4-517E-6D5E-6545-8219187B4963}"/>
                  </a:ext>
                </a:extLst>
              </p:cNvPr>
              <p:cNvSpPr txBox="1"/>
              <p:nvPr/>
            </p:nvSpPr>
            <p:spPr>
              <a:xfrm>
                <a:off x="7946274" y="4852660"/>
                <a:ext cx="1184798" cy="471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6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Q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j</m:t>
                                      </m:r>
                                    </m:sub>
                                  </m:sSub>
                                  <m:r>
                                    <a:rPr lang="en-US" sz="1600" b="0" i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j</m:t>
                          </m:r>
                          <m:r>
                            <a:rPr lang="en-US" sz="16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n</m:t>
                          </m:r>
                        </m:sup>
                      </m:sSubSup>
                    </m:oMath>
                  </m:oMathPara>
                </a14:m>
                <a:endParaRPr lang="en-BE" sz="1600">
                  <a:solidFill>
                    <a:schemeClr val="bg2"/>
                  </a:solidFill>
                  <a:latin typeface="Gill Sans Nova" panose="020B0602020104020203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19AD8B4-517E-6D5E-6545-8219187B4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6274" y="4852660"/>
                <a:ext cx="1184798" cy="471860"/>
              </a:xfrm>
              <a:prstGeom prst="rect">
                <a:avLst/>
              </a:prstGeom>
              <a:blipFill>
                <a:blip r:embed="rId6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Graphic 28" descr="Web design outline">
            <a:extLst>
              <a:ext uri="{FF2B5EF4-FFF2-40B4-BE49-F238E27FC236}">
                <a16:creationId xmlns:a16="http://schemas.microsoft.com/office/drawing/2014/main" id="{85BE7D20-D90A-7AFE-5ABA-854867FDAE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94308" y="3040693"/>
            <a:ext cx="1184753" cy="118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39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2" grpId="0" build="p"/>
      <p:bldP spid="23" grpId="0"/>
      <p:bldP spid="24" grpId="0" animBg="1"/>
      <p:bldP spid="26" grpId="0" animBg="1"/>
      <p:bldP spid="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7C8FAA-D664-054F-DB52-BFED6E501943}"/>
              </a:ext>
            </a:extLst>
          </p:cNvPr>
          <p:cNvSpPr/>
          <p:nvPr/>
        </p:nvSpPr>
        <p:spPr>
          <a:xfrm>
            <a:off x="0" y="4878"/>
            <a:ext cx="12192000" cy="20431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918A07-0366-839A-0A2A-BE51C1519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588" y="365125"/>
            <a:ext cx="5818277" cy="1325563"/>
          </a:xfrm>
        </p:spPr>
        <p:txBody>
          <a:bodyPr>
            <a:normAutofit/>
          </a:bodyPr>
          <a:lstStyle/>
          <a:p>
            <a:r>
              <a:rPr lang="en-US"/>
              <a:t>3. Blueprint Model</a:t>
            </a:r>
            <a:endParaRPr lang="en-BE"/>
          </a:p>
        </p:txBody>
      </p:sp>
      <p:pic>
        <p:nvPicPr>
          <p:cNvPr id="4" name="Content Placeholder 9" descr="A diagram of a blueprint model&#10;&#10;Description automatically generated">
            <a:extLst>
              <a:ext uri="{FF2B5EF4-FFF2-40B4-BE49-F238E27FC236}">
                <a16:creationId xmlns:a16="http://schemas.microsoft.com/office/drawing/2014/main" id="{25B856DC-221F-3893-B557-1FC4BBA58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382" y="2778231"/>
            <a:ext cx="9161236" cy="250675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28ABCEC-1880-1765-67B8-882003EDFC32}"/>
              </a:ext>
            </a:extLst>
          </p:cNvPr>
          <p:cNvSpPr/>
          <p:nvPr/>
        </p:nvSpPr>
        <p:spPr>
          <a:xfrm>
            <a:off x="3180616" y="3797162"/>
            <a:ext cx="1083834" cy="66943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66C2798-A7BD-AFEE-CAAA-2E0C913C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16</a:t>
            </a:fld>
            <a:endParaRPr lang="en-BE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894F137-1857-04B7-7A9A-D6B991D02D43}"/>
              </a:ext>
            </a:extLst>
          </p:cNvPr>
          <p:cNvSpPr/>
          <p:nvPr/>
        </p:nvSpPr>
        <p:spPr>
          <a:xfrm>
            <a:off x="5993089" y="4625165"/>
            <a:ext cx="938447" cy="60867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4389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7C8FAA-D664-054F-DB52-BFED6E501943}"/>
              </a:ext>
            </a:extLst>
          </p:cNvPr>
          <p:cNvSpPr/>
          <p:nvPr/>
        </p:nvSpPr>
        <p:spPr>
          <a:xfrm>
            <a:off x="0" y="4878"/>
            <a:ext cx="12192000" cy="20431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4" name="Content Placeholder 9" descr="A diagram of a blueprint model&#10;&#10;Description automatically generated">
            <a:extLst>
              <a:ext uri="{FF2B5EF4-FFF2-40B4-BE49-F238E27FC236}">
                <a16:creationId xmlns:a16="http://schemas.microsoft.com/office/drawing/2014/main" id="{25B856DC-221F-3893-B557-1FC4BBA58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580" y="269164"/>
            <a:ext cx="5857464" cy="160275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28ABCEC-1880-1765-67B8-882003EDFC32}"/>
              </a:ext>
            </a:extLst>
          </p:cNvPr>
          <p:cNvSpPr/>
          <p:nvPr/>
        </p:nvSpPr>
        <p:spPr>
          <a:xfrm>
            <a:off x="6802626" y="940577"/>
            <a:ext cx="927370" cy="42801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66C2798-A7BD-AFEE-CAAA-2E0C913C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17</a:t>
            </a:fld>
            <a:endParaRPr lang="en-BE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4797EE6-1BD9-E8CB-D75A-0E8512C51042}"/>
              </a:ext>
            </a:extLst>
          </p:cNvPr>
          <p:cNvSpPr txBox="1">
            <a:spLocks/>
          </p:cNvSpPr>
          <p:nvPr/>
        </p:nvSpPr>
        <p:spPr>
          <a:xfrm>
            <a:off x="358588" y="365125"/>
            <a:ext cx="4976036" cy="1325563"/>
          </a:xfrm>
          <a:prstGeom prst="rect">
            <a:avLst/>
          </a:prstGeom>
          <a:noFill/>
          <a:ln w="5080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3. Blueprint Model</a:t>
            </a:r>
            <a:endParaRPr lang="en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BBE7EEB2-D196-0BCC-DFEF-8C27AD30BB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5803" y="2310921"/>
                <a:ext cx="4258540" cy="22361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3200"/>
                  <a:t>Decompose Model Generation: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320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𝐵𝑀</m:t>
                          </m:r>
                        </m:sub>
                      </m:sSub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𝐿𝐿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</m:oMath>
                  </m:oMathPara>
                </a14:m>
                <a:endParaRPr lang="en-US" sz="320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20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BBE7EEB2-D196-0BCC-DFEF-8C27AD30B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03" y="2310921"/>
                <a:ext cx="4258540" cy="2236157"/>
              </a:xfrm>
              <a:prstGeom prst="rect">
                <a:avLst/>
              </a:prstGeom>
              <a:blipFill>
                <a:blip r:embed="rId3"/>
                <a:stretch>
                  <a:fillRect l="-3577" t="-5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4A0DA211-3F26-3203-7F25-5E764220AB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6169837"/>
                  </p:ext>
                </p:extLst>
              </p:nvPr>
            </p:nvGraphicFramePr>
            <p:xfrm>
              <a:off x="4709787" y="2136208"/>
              <a:ext cx="7296410" cy="4109969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75572">
                      <a:extLst>
                        <a:ext uri="{9D8B030D-6E8A-4147-A177-3AD203B41FA5}">
                          <a16:colId xmlns:a16="http://schemas.microsoft.com/office/drawing/2014/main" val="2706320512"/>
                        </a:ext>
                      </a:extLst>
                    </a:gridCol>
                    <a:gridCol w="2417523">
                      <a:extLst>
                        <a:ext uri="{9D8B030D-6E8A-4147-A177-3AD203B41FA5}">
                          <a16:colId xmlns:a16="http://schemas.microsoft.com/office/drawing/2014/main" val="2804090444"/>
                        </a:ext>
                      </a:extLst>
                    </a:gridCol>
                    <a:gridCol w="4603315">
                      <a:extLst>
                        <a:ext uri="{9D8B030D-6E8A-4147-A177-3AD203B41FA5}">
                          <a16:colId xmlns:a16="http://schemas.microsoft.com/office/drawing/2014/main" val="342112926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oMath>
                            </m:oMathPara>
                          </a14:m>
                          <a:endParaRPr lang="en-BE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smtClean="0"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</m:e>
                                <m:sub>
                                  <m:r>
                                    <a:rPr lang="en-US" sz="2000" b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/>
                            <a:t> (Problem</a:t>
                          </a:r>
                          <a:r>
                            <a:rPr lang="en-US" sz="2000" baseline="0"/>
                            <a:t> Desc)</a:t>
                          </a:r>
                          <a:endParaRPr lang="en-BE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smtClean="0"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sz="2000" b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/>
                            <a:t> (Blueprint Model)</a:t>
                          </a:r>
                          <a:endParaRPr lang="en-BE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3912734"/>
                      </a:ext>
                    </a:extLst>
                  </a:tr>
                  <a:tr h="115651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i="0" kern="1200">
                              <a:solidFill>
                                <a:schemeClr val="dk1"/>
                              </a:solidFill>
                              <a:effectLst/>
                            </a:rPr>
                            <a:t>A popular actor…</a:t>
                          </a:r>
                        </a:p>
                        <a:p>
                          <a:pPr algn="l"/>
                          <a:endParaRPr lang="en-US" sz="2000" i="0" kern="120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l"/>
                          <a:r>
                            <a:rPr lang="en-US" sz="200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Which movies to choose?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# Decision Variables:</a:t>
                          </a:r>
                          <a:b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Define binary variables to represent whether the movie is selected (1) or not (0). The variable '</a:t>
                          </a:r>
                          <a:r>
                            <a:rPr lang="en-US" sz="1100" kern="120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selected_movies</a:t>
                          </a: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' is an array of size equal to the number of movies (9 in this case).</a:t>
                          </a:r>
                          <a:b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b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# Domains:</a:t>
                          </a:r>
                          <a:b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Each variable in '</a:t>
                          </a:r>
                          <a:r>
                            <a:rPr lang="en-US" sz="1100" kern="120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selected_movies</a:t>
                          </a: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' has a domain of [0, 1] where 1 represents the movie is selected and 0 represents the movie is not selected.</a:t>
                          </a:r>
                          <a:b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b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# Constraints:</a:t>
                          </a:r>
                          <a:b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Non-overlapping: Ensure that the intervals of selected movies do not overlap. This can be represented by iterating over the movies and for each pair of selected movies (</a:t>
                          </a:r>
                          <a:r>
                            <a:rPr lang="en-US" sz="1100" kern="120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</a:t>
                          </a: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j), add a constraint that the intervals of the movies do not overlap.</a:t>
                          </a:r>
                          <a:b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b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# Objective:</a:t>
                          </a:r>
                          <a:b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Maximize the number of selected movies, which is equivalent to maximizing the sum of the '</a:t>
                          </a:r>
                          <a:r>
                            <a:rPr lang="en-US" sz="1100" kern="120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selected_movies</a:t>
                          </a: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' array.</a:t>
                          </a:r>
                        </a:p>
                        <a:p>
                          <a:endParaRPr lang="en-US" sz="1050">
                            <a:solidFill>
                              <a:srgbClr val="BCBEC4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07473574"/>
                      </a:ext>
                    </a:extLst>
                  </a:tr>
                  <a:tr h="415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444197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4A0DA211-3F26-3203-7F25-5E764220AB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6169837"/>
                  </p:ext>
                </p:extLst>
              </p:nvPr>
            </p:nvGraphicFramePr>
            <p:xfrm>
              <a:off x="4709787" y="2136208"/>
              <a:ext cx="7296410" cy="4109969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75572">
                      <a:extLst>
                        <a:ext uri="{9D8B030D-6E8A-4147-A177-3AD203B41FA5}">
                          <a16:colId xmlns:a16="http://schemas.microsoft.com/office/drawing/2014/main" val="2706320512"/>
                        </a:ext>
                      </a:extLst>
                    </a:gridCol>
                    <a:gridCol w="2417523">
                      <a:extLst>
                        <a:ext uri="{9D8B030D-6E8A-4147-A177-3AD203B41FA5}">
                          <a16:colId xmlns:a16="http://schemas.microsoft.com/office/drawing/2014/main" val="2804090444"/>
                        </a:ext>
                      </a:extLst>
                    </a:gridCol>
                    <a:gridCol w="4603315">
                      <a:extLst>
                        <a:ext uri="{9D8B030D-6E8A-4147-A177-3AD203B41FA5}">
                          <a16:colId xmlns:a16="http://schemas.microsoft.com/office/drawing/2014/main" val="3421129262"/>
                        </a:ext>
                      </a:extLst>
                    </a:gridCol>
                  </a:tblGrid>
                  <a:tr h="4250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22" t="-5714" r="-2571111" b="-88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587" t="-5714" r="-191436" b="-88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8598" t="-5714" r="-529" b="-88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3912734"/>
                      </a:ext>
                    </a:extLst>
                  </a:tr>
                  <a:tr h="32689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22" t="-13780" r="-2571111" b="-156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i="0" kern="1200">
                              <a:solidFill>
                                <a:schemeClr val="dk1"/>
                              </a:solidFill>
                              <a:effectLst/>
                            </a:rPr>
                            <a:t>A popular actor…</a:t>
                          </a:r>
                        </a:p>
                        <a:p>
                          <a:pPr algn="l"/>
                          <a:endParaRPr lang="en-US" sz="2000" i="0" kern="120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l"/>
                          <a:r>
                            <a:rPr lang="en-US" sz="200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Which movies to choose?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# Decision Variables:</a:t>
                          </a:r>
                          <a:b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Define binary variables to represent whether the movie is selected (1) or not (0). The variable '</a:t>
                          </a:r>
                          <a:r>
                            <a:rPr lang="en-US" sz="1100" kern="120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selected_movies</a:t>
                          </a: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' is an array of size equal to the number of movies (9 in this case).</a:t>
                          </a:r>
                          <a:b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b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# Domains:</a:t>
                          </a:r>
                          <a:b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Each variable in '</a:t>
                          </a:r>
                          <a:r>
                            <a:rPr lang="en-US" sz="1100" kern="120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selected_movies</a:t>
                          </a: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' has a domain of [0, 1] where 1 represents the movie is selected and 0 represents the movie is not selected.</a:t>
                          </a:r>
                          <a:b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b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# Constraints:</a:t>
                          </a:r>
                          <a:b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Non-overlapping: Ensure that the intervals of selected movies do not overlap. This can be represented by iterating over the movies and for each pair of selected movies (</a:t>
                          </a:r>
                          <a:r>
                            <a:rPr lang="en-US" sz="1100" kern="120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</a:t>
                          </a: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j), add a constraint that the intervals of the movies do not overlap.</a:t>
                          </a:r>
                          <a:b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b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# Objective:</a:t>
                          </a:r>
                          <a:b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Maximize the number of selected movies, which is equivalent to maximizing the sum of the '</a:t>
                          </a:r>
                          <a:r>
                            <a:rPr lang="en-US" sz="1100" kern="120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selected_movies</a:t>
                          </a:r>
                          <a:r>
                            <a:rPr lang="en-US" sz="11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' array.</a:t>
                          </a:r>
                        </a:p>
                        <a:p>
                          <a:endParaRPr lang="en-US" sz="1050">
                            <a:solidFill>
                              <a:srgbClr val="BCBEC4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07473574"/>
                      </a:ext>
                    </a:extLst>
                  </a:tr>
                  <a:tr h="415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444197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6" name="Cylinder 25">
            <a:extLst>
              <a:ext uri="{FF2B5EF4-FFF2-40B4-BE49-F238E27FC236}">
                <a16:creationId xmlns:a16="http://schemas.microsoft.com/office/drawing/2014/main" id="{A93F9BCB-4B0A-7605-90EF-3D5D2B404383}"/>
              </a:ext>
            </a:extLst>
          </p:cNvPr>
          <p:cNvSpPr/>
          <p:nvPr/>
        </p:nvSpPr>
        <p:spPr>
          <a:xfrm>
            <a:off x="6017643" y="5104623"/>
            <a:ext cx="1184798" cy="148421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Gill Sans Nova" panose="020B06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19AD8B4-517E-6D5E-6545-8219187B4963}"/>
                  </a:ext>
                </a:extLst>
              </p:cNvPr>
              <p:cNvSpPr txBox="1"/>
              <p:nvPr/>
            </p:nvSpPr>
            <p:spPr>
              <a:xfrm>
                <a:off x="6011003" y="5629803"/>
                <a:ext cx="1184798" cy="471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6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Q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j</m:t>
                                      </m:r>
                                    </m:sub>
                                  </m:sSub>
                                  <m:r>
                                    <a:rPr lang="en-US" sz="1600" b="0" i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j</m:t>
                          </m:r>
                          <m:r>
                            <a:rPr lang="en-US" sz="16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n</m:t>
                          </m:r>
                        </m:sup>
                      </m:sSubSup>
                    </m:oMath>
                  </m:oMathPara>
                </a14:m>
                <a:endParaRPr lang="en-BE" sz="1600">
                  <a:solidFill>
                    <a:schemeClr val="bg2"/>
                  </a:solidFill>
                  <a:latin typeface="Gill Sans Nova" panose="020B0602020104020203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19AD8B4-517E-6D5E-6545-8219187B4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003" y="5629803"/>
                <a:ext cx="1184798" cy="471860"/>
              </a:xfrm>
              <a:prstGeom prst="rect">
                <a:avLst/>
              </a:prstGeom>
              <a:blipFill>
                <a:blip r:embed="rId5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6EBB96FA-4CFC-0A4C-2984-D2520520EEA9}"/>
              </a:ext>
            </a:extLst>
          </p:cNvPr>
          <p:cNvSpPr/>
          <p:nvPr/>
        </p:nvSpPr>
        <p:spPr>
          <a:xfrm>
            <a:off x="7437881" y="2543334"/>
            <a:ext cx="4518212" cy="3237427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22750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2" grpId="0" build="p"/>
      <p:bldP spid="26" grpId="0" animBg="1"/>
      <p:bldP spid="27" grpId="0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7C8FAA-D664-054F-DB52-BFED6E501943}"/>
              </a:ext>
            </a:extLst>
          </p:cNvPr>
          <p:cNvSpPr/>
          <p:nvPr/>
        </p:nvSpPr>
        <p:spPr>
          <a:xfrm>
            <a:off x="0" y="4878"/>
            <a:ext cx="12192000" cy="20431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4" name="Content Placeholder 9" descr="A diagram of a blueprint model&#10;&#10;Description automatically generated">
            <a:extLst>
              <a:ext uri="{FF2B5EF4-FFF2-40B4-BE49-F238E27FC236}">
                <a16:creationId xmlns:a16="http://schemas.microsoft.com/office/drawing/2014/main" id="{25B856DC-221F-3893-B557-1FC4BBA58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580" y="269164"/>
            <a:ext cx="5857464" cy="1602758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66C2798-A7BD-AFEE-CAAA-2E0C913C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18</a:t>
            </a:fld>
            <a:endParaRPr lang="en-BE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4797EE6-1BD9-E8CB-D75A-0E8512C51042}"/>
              </a:ext>
            </a:extLst>
          </p:cNvPr>
          <p:cNvSpPr txBox="1">
            <a:spLocks/>
          </p:cNvSpPr>
          <p:nvPr/>
        </p:nvSpPr>
        <p:spPr>
          <a:xfrm>
            <a:off x="358588" y="365125"/>
            <a:ext cx="4976036" cy="1325563"/>
          </a:xfrm>
          <a:prstGeom prst="rect">
            <a:avLst/>
          </a:prstGeom>
          <a:noFill/>
          <a:ln w="5080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3. Blueprint Model</a:t>
            </a:r>
            <a:endParaRPr lang="en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BBE7EEB2-D196-0BCC-DFEF-8C27AD30BB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104" y="2267044"/>
                <a:ext cx="4962620" cy="348788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3200" dirty="0"/>
                  <a:t>Decompose Model Generation: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3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𝐵𝑀</m:t>
                          </m:r>
                        </m:sub>
                      </m:sSub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𝐿𝐿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</m:oMath>
                  </m:oMathPara>
                </a14:m>
                <a:endParaRPr lang="en-US" sz="3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𝐶𝑃</m:t>
                          </m:r>
                        </m:sub>
                      </m:sSub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𝐿𝐿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𝐵𝑀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BBE7EEB2-D196-0BCC-DFEF-8C27AD30B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" y="2267044"/>
                <a:ext cx="4962620" cy="3487884"/>
              </a:xfrm>
              <a:prstGeom prst="rect">
                <a:avLst/>
              </a:prstGeom>
              <a:blipFill>
                <a:blip r:embed="rId3"/>
                <a:stretch>
                  <a:fillRect l="-3061" t="-3623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4A0DA211-3F26-3203-7F25-5E764220AB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1109736"/>
                  </p:ext>
                </p:extLst>
              </p:nvPr>
            </p:nvGraphicFramePr>
            <p:xfrm>
              <a:off x="5010539" y="2136208"/>
              <a:ext cx="6995658" cy="3081269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317241">
                      <a:extLst>
                        <a:ext uri="{9D8B030D-6E8A-4147-A177-3AD203B41FA5}">
                          <a16:colId xmlns:a16="http://schemas.microsoft.com/office/drawing/2014/main" val="2706320512"/>
                        </a:ext>
                      </a:extLst>
                    </a:gridCol>
                    <a:gridCol w="4292081">
                      <a:extLst>
                        <a:ext uri="{9D8B030D-6E8A-4147-A177-3AD203B41FA5}">
                          <a16:colId xmlns:a16="http://schemas.microsoft.com/office/drawing/2014/main" val="2804090444"/>
                        </a:ext>
                      </a:extLst>
                    </a:gridCol>
                    <a:gridCol w="2386336">
                      <a:extLst>
                        <a:ext uri="{9D8B030D-6E8A-4147-A177-3AD203B41FA5}">
                          <a16:colId xmlns:a16="http://schemas.microsoft.com/office/drawing/2014/main" val="342112926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oMath>
                            </m:oMathPara>
                          </a14:m>
                          <a:endParaRPr lang="en-BE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smtClean="0"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</m:e>
                                <m:sub>
                                  <m:r>
                                    <a:rPr lang="en-US" sz="2000" b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dirty="0"/>
                            <a:t> (Problem</a:t>
                          </a:r>
                          <a:r>
                            <a:rPr lang="en-US" sz="2000" baseline="0" dirty="0"/>
                            <a:t> Desc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</m:oMath>
                          </a14:m>
                          <a:r>
                            <a:rPr lang="en-US" sz="2000" baseline="0" dirty="0"/>
                            <a:t> Blueprint Model)</a:t>
                          </a:r>
                          <a:endParaRPr lang="en-B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smtClean="0"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sz="2000" b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/>
                            <a:t> (CP Model)</a:t>
                          </a:r>
                          <a:endParaRPr lang="en-BE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3912734"/>
                      </a:ext>
                    </a:extLst>
                  </a:tr>
                  <a:tr h="115651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100" i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A popular actor…</a:t>
                          </a:r>
                          <a:endParaRPr lang="en-US" sz="110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l"/>
                          <a:r>
                            <a:rPr lang="en-US" sz="110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Which movies to choose?</a:t>
                          </a:r>
                        </a:p>
                        <a:p>
                          <a:pPr algn="l"/>
                          <a:endParaRPr lang="en-US" sz="110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# Decision Variables:</a:t>
                          </a:r>
                          <a:b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Define binary variables to represent whether the movie is selected (1) or not (0). The variable '</a:t>
                          </a:r>
                          <a:r>
                            <a:rPr kumimoji="0" lang="en-US" sz="1100" b="0" i="0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selected_movies</a:t>
                          </a:r>
                          <a: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' is an array of size equal to the number of movies (9 in this case).</a:t>
                          </a:r>
                          <a:b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…</a:t>
                          </a:r>
                          <a:b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# Objective:</a:t>
                          </a:r>
                          <a:b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Maximize the number of selected movies, which is equivalent to maximizing the sum of the '</a:t>
                          </a:r>
                          <a:r>
                            <a:rPr kumimoji="0" lang="en-US" sz="1100" b="0" i="0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selected_movies</a:t>
                          </a:r>
                          <a: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' array.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50" dirty="0">
                              <a:solidFill>
                                <a:srgbClr val="CF8E6D"/>
                              </a:solidFill>
                              <a:effectLst/>
                            </a:rPr>
                            <a:t>from </a:t>
                          </a:r>
                          <a:r>
                            <a:rPr lang="en-US" sz="1050" dirty="0" err="1">
                              <a:solidFill>
                                <a:srgbClr val="BCBEC4"/>
                              </a:solidFill>
                              <a:effectLst/>
                            </a:rPr>
                            <a:t>cpmpy</a:t>
                          </a:r>
                          <a: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  <a:t> </a:t>
                          </a:r>
                          <a:r>
                            <a:rPr lang="en-US" sz="1050" dirty="0">
                              <a:solidFill>
                                <a:srgbClr val="CF8E6D"/>
                              </a:solidFill>
                              <a:effectLst/>
                            </a:rPr>
                            <a:t>import </a:t>
                          </a:r>
                          <a: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  <a:t>*</a:t>
                          </a:r>
                          <a:b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</a:br>
                          <a:b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</a:br>
                          <a:r>
                            <a:rPr lang="en-US" sz="1050" dirty="0">
                              <a:solidFill>
                                <a:srgbClr val="7A7E85"/>
                              </a:solidFill>
                              <a:effectLst/>
                            </a:rPr>
                            <a:t># Data</a:t>
                          </a:r>
                          <a:br>
                            <a:rPr lang="en-US" sz="1050" dirty="0">
                              <a:solidFill>
                                <a:srgbClr val="7A7E85"/>
                              </a:solidFill>
                              <a:effectLst/>
                            </a:rPr>
                          </a:br>
                          <a: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  <a:t>movies = [{</a:t>
                          </a:r>
                          <a:r>
                            <a:rPr lang="en-US" sz="1050" dirty="0">
                              <a:solidFill>
                                <a:srgbClr val="6AAB73"/>
                              </a:solidFill>
                              <a:effectLst/>
                            </a:rPr>
                            <a:t>"title"</a:t>
                          </a:r>
                          <a: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  <a:t>: </a:t>
                          </a:r>
                          <a:r>
                            <a:rPr lang="en-US" sz="1050" dirty="0">
                              <a:solidFill>
                                <a:srgbClr val="6AAB73"/>
                              </a:solidFill>
                              <a:effectLst/>
                            </a:rPr>
                            <a:t>"Tarjan of the Jungle"</a:t>
                          </a:r>
                          <a: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  <a:t>, </a:t>
                          </a:r>
                          <a:r>
                            <a:rPr lang="en-US" sz="1050" dirty="0">
                              <a:solidFill>
                                <a:srgbClr val="6AAB73"/>
                              </a:solidFill>
                              <a:effectLst/>
                            </a:rPr>
                            <a:t>"interval"</a:t>
                          </a:r>
                          <a: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  <a:t>: [</a:t>
                          </a:r>
                          <a:r>
                            <a:rPr lang="en-US" sz="1050" dirty="0">
                              <a:solidFill>
                                <a:srgbClr val="2AACB8"/>
                              </a:solidFill>
                              <a:effectLst/>
                            </a:rPr>
                            <a:t>4</a:t>
                          </a:r>
                          <a: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  <a:t>, </a:t>
                          </a:r>
                          <a:r>
                            <a:rPr lang="en-US" sz="1050" dirty="0">
                              <a:solidFill>
                                <a:srgbClr val="2AACB8"/>
                              </a:solidFill>
                              <a:effectLst/>
                            </a:rPr>
                            <a:t>13</a:t>
                          </a:r>
                          <a: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  <a:t>]}, …]</a:t>
                          </a:r>
                        </a:p>
                        <a:p>
                          <a:r>
                            <a:rPr lang="en-US" sz="1050" dirty="0">
                              <a:solidFill>
                                <a:srgbClr val="7A7E85"/>
                              </a:solidFill>
                              <a:effectLst/>
                            </a:rPr>
                            <a:t># Constraints</a:t>
                          </a:r>
                          <a:endParaRPr lang="en-US" sz="1050" dirty="0">
                            <a:solidFill>
                              <a:srgbClr val="BCBEC4"/>
                            </a:solidFill>
                            <a:effectLst/>
                          </a:endParaRPr>
                        </a:p>
                        <a:p>
                          <a: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  <a:t>…</a:t>
                          </a:r>
                        </a:p>
                        <a:p>
                          <a:r>
                            <a:rPr lang="en-US" sz="1050" dirty="0">
                              <a:solidFill>
                                <a:srgbClr val="7A7E85"/>
                              </a:solidFill>
                              <a:effectLst/>
                            </a:rPr>
                            <a:t># Solve</a:t>
                          </a:r>
                        </a:p>
                        <a:p>
                          <a:r>
                            <a:rPr lang="en-US" sz="1050" dirty="0" err="1">
                              <a:solidFill>
                                <a:srgbClr val="BCBEC4"/>
                              </a:solidFill>
                              <a:effectLst/>
                            </a:rPr>
                            <a:t>model.solve</a:t>
                          </a:r>
                          <a: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  <a:t>()</a:t>
                          </a:r>
                        </a:p>
                        <a:p>
                          <a:endParaRPr lang="en-US" sz="1050" dirty="0">
                            <a:solidFill>
                              <a:srgbClr val="BCBEC4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07473574"/>
                      </a:ext>
                    </a:extLst>
                  </a:tr>
                  <a:tr h="415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  <a:endParaRPr lang="en-BE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444197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4A0DA211-3F26-3203-7F25-5E764220AB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1109736"/>
                  </p:ext>
                </p:extLst>
              </p:nvPr>
            </p:nvGraphicFramePr>
            <p:xfrm>
              <a:off x="5010539" y="2136208"/>
              <a:ext cx="6995658" cy="3081269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317241">
                      <a:extLst>
                        <a:ext uri="{9D8B030D-6E8A-4147-A177-3AD203B41FA5}">
                          <a16:colId xmlns:a16="http://schemas.microsoft.com/office/drawing/2014/main" val="2706320512"/>
                        </a:ext>
                      </a:extLst>
                    </a:gridCol>
                    <a:gridCol w="4292081">
                      <a:extLst>
                        <a:ext uri="{9D8B030D-6E8A-4147-A177-3AD203B41FA5}">
                          <a16:colId xmlns:a16="http://schemas.microsoft.com/office/drawing/2014/main" val="2804090444"/>
                        </a:ext>
                      </a:extLst>
                    </a:gridCol>
                    <a:gridCol w="2386336">
                      <a:extLst>
                        <a:ext uri="{9D8B030D-6E8A-4147-A177-3AD203B41FA5}">
                          <a16:colId xmlns:a16="http://schemas.microsoft.com/office/drawing/2014/main" val="3421129262"/>
                        </a:ext>
                      </a:extLst>
                    </a:gridCol>
                  </a:tblGrid>
                  <a:tr h="729869"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4"/>
                          <a:stretch>
                            <a:fillRect l="-4000" t="-3448" r="-2116000" b="-3327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4"/>
                          <a:stretch>
                            <a:fillRect l="-7670" t="-3448" r="-56047" b="-3327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4"/>
                          <a:stretch>
                            <a:fillRect l="-194149" t="-3448" r="-1064" b="-3327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3912734"/>
                      </a:ext>
                    </a:extLst>
                  </a:tr>
                  <a:tr h="1935480"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000" t="-39474" r="-2116000" b="-26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100" i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A popular actor…</a:t>
                          </a:r>
                          <a:endParaRPr lang="en-US" sz="110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l"/>
                          <a:r>
                            <a:rPr lang="en-US" sz="110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Which movies to choose?</a:t>
                          </a:r>
                        </a:p>
                        <a:p>
                          <a:pPr algn="l"/>
                          <a:endParaRPr lang="en-US" sz="110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# Decision Variables:</a:t>
                          </a:r>
                          <a:b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Define binary variables to represent whether the movie is selected (1) or not (0). The variable '</a:t>
                          </a:r>
                          <a:r>
                            <a:rPr kumimoji="0" lang="en-US" sz="1100" b="0" i="0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selected_movies</a:t>
                          </a:r>
                          <a: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' is an array of size equal to the number of movies (9 in this case).</a:t>
                          </a:r>
                          <a:b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…</a:t>
                          </a:r>
                          <a:b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# Objective:</a:t>
                          </a:r>
                          <a:b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</a:br>
                          <a: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Maximize the number of selected movies, which is equivalent to maximizing the sum of the '</a:t>
                          </a:r>
                          <a:r>
                            <a:rPr kumimoji="0" lang="en-US" sz="1100" b="0" i="0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selected_movies</a:t>
                          </a:r>
                          <a:r>
                            <a:rPr kumimoji="0" lang="en-US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' array.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50" dirty="0">
                              <a:solidFill>
                                <a:srgbClr val="CF8E6D"/>
                              </a:solidFill>
                              <a:effectLst/>
                            </a:rPr>
                            <a:t>from </a:t>
                          </a:r>
                          <a:r>
                            <a:rPr lang="en-US" sz="1050" dirty="0" err="1">
                              <a:solidFill>
                                <a:srgbClr val="BCBEC4"/>
                              </a:solidFill>
                              <a:effectLst/>
                            </a:rPr>
                            <a:t>cpmpy</a:t>
                          </a:r>
                          <a: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  <a:t> </a:t>
                          </a:r>
                          <a:r>
                            <a:rPr lang="en-US" sz="1050" dirty="0">
                              <a:solidFill>
                                <a:srgbClr val="CF8E6D"/>
                              </a:solidFill>
                              <a:effectLst/>
                            </a:rPr>
                            <a:t>import </a:t>
                          </a:r>
                          <a: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  <a:t>*</a:t>
                          </a:r>
                          <a:b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</a:br>
                          <a:b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</a:br>
                          <a:r>
                            <a:rPr lang="en-US" sz="1050" dirty="0">
                              <a:solidFill>
                                <a:srgbClr val="7A7E85"/>
                              </a:solidFill>
                              <a:effectLst/>
                            </a:rPr>
                            <a:t># Data</a:t>
                          </a:r>
                          <a:br>
                            <a:rPr lang="en-US" sz="1050" dirty="0">
                              <a:solidFill>
                                <a:srgbClr val="7A7E85"/>
                              </a:solidFill>
                              <a:effectLst/>
                            </a:rPr>
                          </a:br>
                          <a: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  <a:t>movies = [{</a:t>
                          </a:r>
                          <a:r>
                            <a:rPr lang="en-US" sz="1050" dirty="0">
                              <a:solidFill>
                                <a:srgbClr val="6AAB73"/>
                              </a:solidFill>
                              <a:effectLst/>
                            </a:rPr>
                            <a:t>"title"</a:t>
                          </a:r>
                          <a: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  <a:t>: </a:t>
                          </a:r>
                          <a:r>
                            <a:rPr lang="en-US" sz="1050" dirty="0">
                              <a:solidFill>
                                <a:srgbClr val="6AAB73"/>
                              </a:solidFill>
                              <a:effectLst/>
                            </a:rPr>
                            <a:t>"Tarjan of the Jungle"</a:t>
                          </a:r>
                          <a: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  <a:t>, </a:t>
                          </a:r>
                          <a:r>
                            <a:rPr lang="en-US" sz="1050" dirty="0">
                              <a:solidFill>
                                <a:srgbClr val="6AAB73"/>
                              </a:solidFill>
                              <a:effectLst/>
                            </a:rPr>
                            <a:t>"interval"</a:t>
                          </a:r>
                          <a: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  <a:t>: [</a:t>
                          </a:r>
                          <a:r>
                            <a:rPr lang="en-US" sz="1050" dirty="0">
                              <a:solidFill>
                                <a:srgbClr val="2AACB8"/>
                              </a:solidFill>
                              <a:effectLst/>
                            </a:rPr>
                            <a:t>4</a:t>
                          </a:r>
                          <a: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  <a:t>, </a:t>
                          </a:r>
                          <a:r>
                            <a:rPr lang="en-US" sz="1050" dirty="0">
                              <a:solidFill>
                                <a:srgbClr val="2AACB8"/>
                              </a:solidFill>
                              <a:effectLst/>
                            </a:rPr>
                            <a:t>13</a:t>
                          </a:r>
                          <a: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  <a:t>]}, …]</a:t>
                          </a:r>
                        </a:p>
                        <a:p>
                          <a:r>
                            <a:rPr lang="en-US" sz="1050" dirty="0">
                              <a:solidFill>
                                <a:srgbClr val="7A7E85"/>
                              </a:solidFill>
                              <a:effectLst/>
                            </a:rPr>
                            <a:t># Constraints</a:t>
                          </a:r>
                          <a:endParaRPr lang="en-US" sz="1050" dirty="0">
                            <a:solidFill>
                              <a:srgbClr val="BCBEC4"/>
                            </a:solidFill>
                            <a:effectLst/>
                          </a:endParaRPr>
                        </a:p>
                        <a:p>
                          <a: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  <a:t>…</a:t>
                          </a:r>
                        </a:p>
                        <a:p>
                          <a:r>
                            <a:rPr lang="en-US" sz="1050" dirty="0">
                              <a:solidFill>
                                <a:srgbClr val="7A7E85"/>
                              </a:solidFill>
                              <a:effectLst/>
                            </a:rPr>
                            <a:t># Solve</a:t>
                          </a:r>
                        </a:p>
                        <a:p>
                          <a:r>
                            <a:rPr lang="en-US" sz="1050" dirty="0" err="1">
                              <a:solidFill>
                                <a:srgbClr val="BCBEC4"/>
                              </a:solidFill>
                              <a:effectLst/>
                            </a:rPr>
                            <a:t>model.solve</a:t>
                          </a:r>
                          <a:r>
                            <a:rPr lang="en-US" sz="1050" dirty="0">
                              <a:solidFill>
                                <a:srgbClr val="BCBEC4"/>
                              </a:solidFill>
                              <a:effectLst/>
                            </a:rPr>
                            <a:t>()</a:t>
                          </a:r>
                        </a:p>
                        <a:p>
                          <a:endParaRPr lang="en-US" sz="1050" dirty="0">
                            <a:solidFill>
                              <a:srgbClr val="BCBEC4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07473574"/>
                      </a:ext>
                    </a:extLst>
                  </a:tr>
                  <a:tr h="415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  <a:endParaRPr lang="en-BE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444197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6EBB96FA-4CFC-0A4C-2984-D2520520EEA9}"/>
              </a:ext>
            </a:extLst>
          </p:cNvPr>
          <p:cNvSpPr/>
          <p:nvPr/>
        </p:nvSpPr>
        <p:spPr>
          <a:xfrm>
            <a:off x="5322881" y="3370978"/>
            <a:ext cx="4314705" cy="1412956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CB21CA0-73F6-EE8C-80A2-36D50C6FFB3D}"/>
              </a:ext>
            </a:extLst>
          </p:cNvPr>
          <p:cNvSpPr/>
          <p:nvPr/>
        </p:nvSpPr>
        <p:spPr>
          <a:xfrm>
            <a:off x="8545831" y="1409879"/>
            <a:ext cx="927370" cy="42801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7" name="Graphic 6" descr="Web design outline">
            <a:extLst>
              <a:ext uri="{FF2B5EF4-FFF2-40B4-BE49-F238E27FC236}">
                <a16:creationId xmlns:a16="http://schemas.microsoft.com/office/drawing/2014/main" id="{3072182F-24F7-8959-A43D-566CF8945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81995" y="3186879"/>
            <a:ext cx="1184753" cy="11847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B555F4-47AA-2330-F6DA-EC91851F2A1D}"/>
                  </a:ext>
                </a:extLst>
              </p:cNvPr>
              <p:cNvSpPr txBox="1"/>
              <p:nvPr/>
            </p:nvSpPr>
            <p:spPr>
              <a:xfrm>
                <a:off x="194529" y="5754928"/>
                <a:ext cx="28369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𝑪𝑷</m:t>
                          </m:r>
                        </m:sub>
                      </m:sSub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B555F4-47AA-2330-F6DA-EC91851F2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29" y="5754928"/>
                <a:ext cx="283692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1D701C37-ED55-E55A-14EF-AE5FCE789AE3}"/>
              </a:ext>
            </a:extLst>
          </p:cNvPr>
          <p:cNvSpPr/>
          <p:nvPr/>
        </p:nvSpPr>
        <p:spPr>
          <a:xfrm>
            <a:off x="446277" y="5676727"/>
            <a:ext cx="2347657" cy="679622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6" name="Cylinder 25">
            <a:extLst>
              <a:ext uri="{FF2B5EF4-FFF2-40B4-BE49-F238E27FC236}">
                <a16:creationId xmlns:a16="http://schemas.microsoft.com/office/drawing/2014/main" id="{A93F9BCB-4B0A-7605-90EF-3D5D2B404383}"/>
              </a:ext>
            </a:extLst>
          </p:cNvPr>
          <p:cNvSpPr/>
          <p:nvPr/>
        </p:nvSpPr>
        <p:spPr>
          <a:xfrm>
            <a:off x="8092527" y="4788157"/>
            <a:ext cx="1184798" cy="148421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Gill Sans Nova" panose="020B06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19AD8B4-517E-6D5E-6545-8219187B4963}"/>
                  </a:ext>
                </a:extLst>
              </p:cNvPr>
              <p:cNvSpPr txBox="1"/>
              <p:nvPr/>
            </p:nvSpPr>
            <p:spPr>
              <a:xfrm>
                <a:off x="8085887" y="5313337"/>
                <a:ext cx="1184798" cy="471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6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Q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j</m:t>
                                      </m:r>
                                    </m:sub>
                                  </m:sSub>
                                  <m:r>
                                    <a:rPr lang="en-US" sz="1600" b="0" i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j</m:t>
                          </m:r>
                          <m:r>
                            <a:rPr lang="en-US" sz="16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n</m:t>
                          </m:r>
                        </m:sup>
                      </m:sSubSup>
                    </m:oMath>
                  </m:oMathPara>
                </a14:m>
                <a:endParaRPr lang="en-BE" sz="1600">
                  <a:solidFill>
                    <a:schemeClr val="bg2"/>
                  </a:solidFill>
                  <a:latin typeface="Gill Sans Nova" panose="020B0602020104020203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19AD8B4-517E-6D5E-6545-8219187B4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887" y="5313337"/>
                <a:ext cx="1184798" cy="471860"/>
              </a:xfrm>
              <a:prstGeom prst="rect">
                <a:avLst/>
              </a:prstGeom>
              <a:blipFill>
                <a:blip r:embed="rId8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16">
            <a:extLst>
              <a:ext uri="{FF2B5EF4-FFF2-40B4-BE49-F238E27FC236}">
                <a16:creationId xmlns:a16="http://schemas.microsoft.com/office/drawing/2014/main" id="{37687F65-7250-1D91-2611-8877DFCF1C74}"/>
              </a:ext>
            </a:extLst>
          </p:cNvPr>
          <p:cNvSpPr/>
          <p:nvPr/>
        </p:nvSpPr>
        <p:spPr>
          <a:xfrm rot="871637" flipV="1">
            <a:off x="1481641" y="4350797"/>
            <a:ext cx="2729928" cy="161311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5940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1" grpId="0" animBg="1"/>
      <p:bldP spid="26" grpId="0" animBg="1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7C8FAA-D664-054F-DB52-BFED6E501943}"/>
              </a:ext>
            </a:extLst>
          </p:cNvPr>
          <p:cNvSpPr/>
          <p:nvPr/>
        </p:nvSpPr>
        <p:spPr>
          <a:xfrm>
            <a:off x="0" y="4878"/>
            <a:ext cx="12192000" cy="20431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918A07-0366-839A-0A2A-BE51C1519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588" y="365125"/>
            <a:ext cx="6950218" cy="1325563"/>
          </a:xfrm>
        </p:spPr>
        <p:txBody>
          <a:bodyPr>
            <a:normAutofit/>
          </a:bodyPr>
          <a:lstStyle/>
          <a:p>
            <a:r>
              <a:rPr lang="en-US"/>
              <a:t>4. Named Entity Recognition</a:t>
            </a:r>
            <a:endParaRPr lang="en-BE"/>
          </a:p>
        </p:txBody>
      </p:sp>
      <p:pic>
        <p:nvPicPr>
          <p:cNvPr id="4" name="Content Placeholder 9" descr="A diagram of a blueprint model&#10;&#10;Description automatically generated">
            <a:extLst>
              <a:ext uri="{FF2B5EF4-FFF2-40B4-BE49-F238E27FC236}">
                <a16:creationId xmlns:a16="http://schemas.microsoft.com/office/drawing/2014/main" id="{25B856DC-221F-3893-B557-1FC4BBA58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382" y="2778231"/>
            <a:ext cx="9161236" cy="250675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28ABCEC-1880-1765-67B8-882003EDFC32}"/>
              </a:ext>
            </a:extLst>
          </p:cNvPr>
          <p:cNvSpPr/>
          <p:nvPr/>
        </p:nvSpPr>
        <p:spPr>
          <a:xfrm>
            <a:off x="1726490" y="3696895"/>
            <a:ext cx="996908" cy="58735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66C2798-A7BD-AFEE-CAAA-2E0C913C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19</a:t>
            </a:fld>
            <a:endParaRPr lang="en-BE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894F137-1857-04B7-7A9A-D6B991D02D43}"/>
              </a:ext>
            </a:extLst>
          </p:cNvPr>
          <p:cNvSpPr/>
          <p:nvPr/>
        </p:nvSpPr>
        <p:spPr>
          <a:xfrm>
            <a:off x="5993089" y="4625165"/>
            <a:ext cx="938447" cy="60867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E6D401-7AFB-99C1-4A65-1DF562DE78CF}"/>
              </a:ext>
            </a:extLst>
          </p:cNvPr>
          <p:cNvSpPr/>
          <p:nvPr/>
        </p:nvSpPr>
        <p:spPr>
          <a:xfrm>
            <a:off x="3212319" y="4594785"/>
            <a:ext cx="1083834" cy="66943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5539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7C8FAA-D664-054F-DB52-BFED6E501943}"/>
              </a:ext>
            </a:extLst>
          </p:cNvPr>
          <p:cNvSpPr/>
          <p:nvPr/>
        </p:nvSpPr>
        <p:spPr>
          <a:xfrm>
            <a:off x="0" y="4878"/>
            <a:ext cx="12192000" cy="20431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4" name="Content Placeholder 9" descr="A diagram of a blueprint model&#10;&#10;Description automatically generated">
            <a:extLst>
              <a:ext uri="{FF2B5EF4-FFF2-40B4-BE49-F238E27FC236}">
                <a16:creationId xmlns:a16="http://schemas.microsoft.com/office/drawing/2014/main" id="{25B856DC-221F-3893-B557-1FC4BBA58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580" y="269164"/>
            <a:ext cx="5857464" cy="160275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28ABCEC-1880-1765-67B8-882003EDFC32}"/>
              </a:ext>
            </a:extLst>
          </p:cNvPr>
          <p:cNvSpPr/>
          <p:nvPr/>
        </p:nvSpPr>
        <p:spPr>
          <a:xfrm>
            <a:off x="8484355" y="1408495"/>
            <a:ext cx="927370" cy="42801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66C2798-A7BD-AFEE-CAAA-2E0C913C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20</a:t>
            </a:fld>
            <a:endParaRPr lang="en-BE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4797EE6-1BD9-E8CB-D75A-0E8512C51042}"/>
              </a:ext>
            </a:extLst>
          </p:cNvPr>
          <p:cNvSpPr txBox="1">
            <a:spLocks/>
          </p:cNvSpPr>
          <p:nvPr/>
        </p:nvSpPr>
        <p:spPr>
          <a:xfrm>
            <a:off x="358588" y="365125"/>
            <a:ext cx="4976036" cy="1325563"/>
          </a:xfrm>
          <a:prstGeom prst="rect">
            <a:avLst/>
          </a:prstGeom>
          <a:noFill/>
          <a:ln w="5080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4. Named Entity Recognition</a:t>
            </a:r>
            <a:endParaRPr lang="en-B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4A0DA211-3F26-3203-7F25-5E764220AB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9332839"/>
                  </p:ext>
                </p:extLst>
              </p:nvPr>
            </p:nvGraphicFramePr>
            <p:xfrm>
              <a:off x="1005626" y="2129307"/>
              <a:ext cx="10912753" cy="4093252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624106">
                      <a:extLst>
                        <a:ext uri="{9D8B030D-6E8A-4147-A177-3AD203B41FA5}">
                          <a16:colId xmlns:a16="http://schemas.microsoft.com/office/drawing/2014/main" val="2706320512"/>
                        </a:ext>
                      </a:extLst>
                    </a:gridCol>
                    <a:gridCol w="4270827">
                      <a:extLst>
                        <a:ext uri="{9D8B030D-6E8A-4147-A177-3AD203B41FA5}">
                          <a16:colId xmlns:a16="http://schemas.microsoft.com/office/drawing/2014/main" val="2804090444"/>
                        </a:ext>
                      </a:extLst>
                    </a:gridCol>
                    <a:gridCol w="6017820">
                      <a:extLst>
                        <a:ext uri="{9D8B030D-6E8A-4147-A177-3AD203B41FA5}">
                          <a16:colId xmlns:a16="http://schemas.microsoft.com/office/drawing/2014/main" val="3421129262"/>
                        </a:ext>
                      </a:extLst>
                    </a:gridCol>
                  </a:tblGrid>
                  <a:tr h="58091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oMath>
                            </m:oMathPara>
                          </a14:m>
                          <a:endParaRPr lang="en-BE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smtClean="0"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</m:e>
                                <m:sub>
                                  <m:r>
                                    <a:rPr lang="en-US" sz="2000" b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dirty="0"/>
                            <a:t> (Problem</a:t>
                          </a:r>
                          <a:r>
                            <a:rPr lang="en-US" sz="2000" baseline="0" dirty="0"/>
                            <a:t> Desc)</a:t>
                          </a:r>
                          <a:endParaRPr lang="en-BE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smtClean="0"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sz="2000" b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/>
                            <a:t> (CP Model)</a:t>
                          </a:r>
                          <a:endParaRPr lang="en-BE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3912734"/>
                      </a:ext>
                    </a:extLst>
                  </a:tr>
                  <a:tr h="294391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800" i="0" kern="1200">
                              <a:solidFill>
                                <a:schemeClr val="dk1"/>
                              </a:solidFill>
                              <a:effectLst/>
                            </a:rPr>
                            <a:t>A popular actor…</a:t>
                          </a:r>
                        </a:p>
                        <a:p>
                          <a:pPr algn="l"/>
                          <a:endParaRPr lang="en-US" sz="1800" i="0" kern="120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l"/>
                          <a:r>
                            <a:rPr lang="en-US" sz="180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Which movies to choose?</a:t>
                          </a:r>
                        </a:p>
                        <a:p>
                          <a:pPr algn="l"/>
                          <a:endParaRPr lang="en-US" sz="2000" i="0" kern="120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8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CONST (36-41): only one</a:t>
                          </a:r>
                        </a:p>
                        <a:p>
                          <a:r>
                            <a:rPr lang="en-US" sz="18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OBJ_DIR (44-49): maximize</a:t>
                          </a:r>
                          <a:endParaRPr lang="en-US" sz="1800" i="0" kern="120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80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  <a:p>
                          <a:endParaRPr lang="en-US" sz="2000" i="0" kern="120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20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&lt;Blueprint Model&gt;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>
                              <a:solidFill>
                                <a:srgbClr val="CF8E6D"/>
                              </a:solidFill>
                              <a:effectLst/>
                            </a:rPr>
                            <a:t>from </a:t>
                          </a:r>
                          <a:r>
                            <a:rPr lang="en-US" sz="1600" err="1">
                              <a:solidFill>
                                <a:srgbClr val="BCBEC4"/>
                              </a:solidFill>
                              <a:effectLst/>
                            </a:rPr>
                            <a:t>cpmpy</a:t>
                          </a:r>
                          <a: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  <a:t> </a:t>
                          </a:r>
                          <a:r>
                            <a:rPr lang="en-US" sz="1600">
                              <a:solidFill>
                                <a:srgbClr val="CF8E6D"/>
                              </a:solidFill>
                              <a:effectLst/>
                            </a:rPr>
                            <a:t>import </a:t>
                          </a:r>
                          <a: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  <a:t>*</a:t>
                          </a:r>
                          <a:b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</a:br>
                          <a:b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</a:br>
                          <a:r>
                            <a:rPr lang="en-US" sz="1600">
                              <a:solidFill>
                                <a:srgbClr val="7A7E85"/>
                              </a:solidFill>
                              <a:effectLst/>
                            </a:rPr>
                            <a:t># Data</a:t>
                          </a:r>
                          <a:br>
                            <a:rPr lang="en-US" sz="1600">
                              <a:solidFill>
                                <a:srgbClr val="7A7E85"/>
                              </a:solidFill>
                              <a:effectLst/>
                            </a:rPr>
                          </a:br>
                          <a: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  <a:t>movies = [{</a:t>
                          </a:r>
                          <a:r>
                            <a:rPr lang="en-US" sz="1600">
                              <a:solidFill>
                                <a:srgbClr val="6AAB73"/>
                              </a:solidFill>
                              <a:effectLst/>
                            </a:rPr>
                            <a:t>"title"</a:t>
                          </a:r>
                          <a: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  <a:t>: </a:t>
                          </a:r>
                          <a:r>
                            <a:rPr lang="en-US" sz="1600">
                              <a:solidFill>
                                <a:srgbClr val="6AAB73"/>
                              </a:solidFill>
                              <a:effectLst/>
                            </a:rPr>
                            <a:t>"</a:t>
                          </a:r>
                          <a:r>
                            <a:rPr lang="en-US" sz="1600" err="1">
                              <a:solidFill>
                                <a:srgbClr val="6AAB73"/>
                              </a:solidFill>
                              <a:effectLst/>
                            </a:rPr>
                            <a:t>Tarjan</a:t>
                          </a:r>
                          <a:r>
                            <a:rPr lang="en-US" sz="1600">
                              <a:solidFill>
                                <a:srgbClr val="6AAB73"/>
                              </a:solidFill>
                              <a:effectLst/>
                            </a:rPr>
                            <a:t> of the Jungle"</a:t>
                          </a:r>
                          <a: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  <a:t>, </a:t>
                          </a:r>
                          <a:r>
                            <a:rPr lang="en-US" sz="1600">
                              <a:solidFill>
                                <a:srgbClr val="6AAB73"/>
                              </a:solidFill>
                              <a:effectLst/>
                            </a:rPr>
                            <a:t>"interval"</a:t>
                          </a:r>
                          <a: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  <a:t>: [</a:t>
                          </a:r>
                          <a:r>
                            <a:rPr lang="en-US" sz="1600">
                              <a:solidFill>
                                <a:srgbClr val="2AACB8"/>
                              </a:solidFill>
                              <a:effectLst/>
                            </a:rPr>
                            <a:t>4</a:t>
                          </a:r>
                          <a: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  <a:t>, </a:t>
                          </a:r>
                          <a:r>
                            <a:rPr lang="en-US" sz="1600">
                              <a:solidFill>
                                <a:srgbClr val="2AACB8"/>
                              </a:solidFill>
                              <a:effectLst/>
                            </a:rPr>
                            <a:t>13</a:t>
                          </a:r>
                          <a: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  <a:t>]}, …]</a:t>
                          </a:r>
                        </a:p>
                        <a:p>
                          <a:r>
                            <a:rPr lang="en-US" sz="1600">
                              <a:solidFill>
                                <a:srgbClr val="7A7E85"/>
                              </a:solidFill>
                              <a:effectLst/>
                            </a:rPr>
                            <a:t># Constraints</a:t>
                          </a:r>
                          <a:endParaRPr lang="en-US" sz="1600">
                            <a:solidFill>
                              <a:srgbClr val="BCBEC4"/>
                            </a:solidFill>
                            <a:effectLst/>
                          </a:endParaRPr>
                        </a:p>
                        <a:p>
                          <a: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  <a:t>…</a:t>
                          </a:r>
                        </a:p>
                        <a:p>
                          <a:r>
                            <a:rPr lang="en-US" sz="1600">
                              <a:solidFill>
                                <a:srgbClr val="7A7E85"/>
                              </a:solidFill>
                              <a:effectLst/>
                            </a:rPr>
                            <a:t># Solve</a:t>
                          </a:r>
                        </a:p>
                        <a:p>
                          <a: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  <a:t>model.solve()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07473574"/>
                      </a:ext>
                    </a:extLst>
                  </a:tr>
                  <a:tr h="5684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  <a:endParaRPr lang="en-BE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444197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4A0DA211-3F26-3203-7F25-5E764220AB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9332839"/>
                  </p:ext>
                </p:extLst>
              </p:nvPr>
            </p:nvGraphicFramePr>
            <p:xfrm>
              <a:off x="1005626" y="2129307"/>
              <a:ext cx="10912753" cy="4093252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624106">
                      <a:extLst>
                        <a:ext uri="{9D8B030D-6E8A-4147-A177-3AD203B41FA5}">
                          <a16:colId xmlns:a16="http://schemas.microsoft.com/office/drawing/2014/main" val="2706320512"/>
                        </a:ext>
                      </a:extLst>
                    </a:gridCol>
                    <a:gridCol w="4270827">
                      <a:extLst>
                        <a:ext uri="{9D8B030D-6E8A-4147-A177-3AD203B41FA5}">
                          <a16:colId xmlns:a16="http://schemas.microsoft.com/office/drawing/2014/main" val="2804090444"/>
                        </a:ext>
                      </a:extLst>
                    </a:gridCol>
                    <a:gridCol w="6017820">
                      <a:extLst>
                        <a:ext uri="{9D8B030D-6E8A-4147-A177-3AD203B41FA5}">
                          <a16:colId xmlns:a16="http://schemas.microsoft.com/office/drawing/2014/main" val="3421129262"/>
                        </a:ext>
                      </a:extLst>
                    </a:gridCol>
                  </a:tblGrid>
                  <a:tr h="5809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80" t="-4211" r="-1660784" b="-61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672" t="-4211" r="-141311" b="-61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1478" t="-4211" r="-405" b="-6115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3912734"/>
                      </a:ext>
                    </a:extLst>
                  </a:tr>
                  <a:tr h="29439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80" t="-20455" r="-1660784" b="-20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800" i="0" kern="1200">
                              <a:solidFill>
                                <a:schemeClr val="dk1"/>
                              </a:solidFill>
                              <a:effectLst/>
                            </a:rPr>
                            <a:t>A popular actor…</a:t>
                          </a:r>
                        </a:p>
                        <a:p>
                          <a:pPr algn="l"/>
                          <a:endParaRPr lang="en-US" sz="1800" i="0" kern="120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l"/>
                          <a:r>
                            <a:rPr lang="en-US" sz="180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Which movies to choose?</a:t>
                          </a:r>
                        </a:p>
                        <a:p>
                          <a:pPr algn="l"/>
                          <a:endParaRPr lang="en-US" sz="2000" i="0" kern="120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8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CONST (36-41): only one</a:t>
                          </a:r>
                        </a:p>
                        <a:p>
                          <a:r>
                            <a:rPr lang="en-US" sz="18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OBJ_DIR (44-49): maximize</a:t>
                          </a:r>
                          <a:endParaRPr lang="en-US" sz="1800" i="0" kern="120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80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  <a:p>
                          <a:endParaRPr lang="en-US" sz="2000" i="0" kern="120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20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&lt;Blueprint Model&gt;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>
                              <a:solidFill>
                                <a:srgbClr val="CF8E6D"/>
                              </a:solidFill>
                              <a:effectLst/>
                            </a:rPr>
                            <a:t>from </a:t>
                          </a:r>
                          <a:r>
                            <a:rPr lang="en-US" sz="1600" err="1">
                              <a:solidFill>
                                <a:srgbClr val="BCBEC4"/>
                              </a:solidFill>
                              <a:effectLst/>
                            </a:rPr>
                            <a:t>cpmpy</a:t>
                          </a:r>
                          <a: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  <a:t> </a:t>
                          </a:r>
                          <a:r>
                            <a:rPr lang="en-US" sz="1600">
                              <a:solidFill>
                                <a:srgbClr val="CF8E6D"/>
                              </a:solidFill>
                              <a:effectLst/>
                            </a:rPr>
                            <a:t>import </a:t>
                          </a:r>
                          <a: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  <a:t>*</a:t>
                          </a:r>
                          <a:b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</a:br>
                          <a:b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</a:br>
                          <a:r>
                            <a:rPr lang="en-US" sz="1600">
                              <a:solidFill>
                                <a:srgbClr val="7A7E85"/>
                              </a:solidFill>
                              <a:effectLst/>
                            </a:rPr>
                            <a:t># Data</a:t>
                          </a:r>
                          <a:br>
                            <a:rPr lang="en-US" sz="1600">
                              <a:solidFill>
                                <a:srgbClr val="7A7E85"/>
                              </a:solidFill>
                              <a:effectLst/>
                            </a:rPr>
                          </a:br>
                          <a: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  <a:t>movies = [{</a:t>
                          </a:r>
                          <a:r>
                            <a:rPr lang="en-US" sz="1600">
                              <a:solidFill>
                                <a:srgbClr val="6AAB73"/>
                              </a:solidFill>
                              <a:effectLst/>
                            </a:rPr>
                            <a:t>"title"</a:t>
                          </a:r>
                          <a: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  <a:t>: </a:t>
                          </a:r>
                          <a:r>
                            <a:rPr lang="en-US" sz="1600">
                              <a:solidFill>
                                <a:srgbClr val="6AAB73"/>
                              </a:solidFill>
                              <a:effectLst/>
                            </a:rPr>
                            <a:t>"</a:t>
                          </a:r>
                          <a:r>
                            <a:rPr lang="en-US" sz="1600" err="1">
                              <a:solidFill>
                                <a:srgbClr val="6AAB73"/>
                              </a:solidFill>
                              <a:effectLst/>
                            </a:rPr>
                            <a:t>Tarjan</a:t>
                          </a:r>
                          <a:r>
                            <a:rPr lang="en-US" sz="1600">
                              <a:solidFill>
                                <a:srgbClr val="6AAB73"/>
                              </a:solidFill>
                              <a:effectLst/>
                            </a:rPr>
                            <a:t> of the Jungle"</a:t>
                          </a:r>
                          <a: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  <a:t>, </a:t>
                          </a:r>
                          <a:r>
                            <a:rPr lang="en-US" sz="1600">
                              <a:solidFill>
                                <a:srgbClr val="6AAB73"/>
                              </a:solidFill>
                              <a:effectLst/>
                            </a:rPr>
                            <a:t>"interval"</a:t>
                          </a:r>
                          <a: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  <a:t>: [</a:t>
                          </a:r>
                          <a:r>
                            <a:rPr lang="en-US" sz="1600">
                              <a:solidFill>
                                <a:srgbClr val="2AACB8"/>
                              </a:solidFill>
                              <a:effectLst/>
                            </a:rPr>
                            <a:t>4</a:t>
                          </a:r>
                          <a: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  <a:t>, </a:t>
                          </a:r>
                          <a:r>
                            <a:rPr lang="en-US" sz="1600">
                              <a:solidFill>
                                <a:srgbClr val="2AACB8"/>
                              </a:solidFill>
                              <a:effectLst/>
                            </a:rPr>
                            <a:t>13</a:t>
                          </a:r>
                          <a: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  <a:t>]}, …]</a:t>
                          </a:r>
                        </a:p>
                        <a:p>
                          <a:r>
                            <a:rPr lang="en-US" sz="1600">
                              <a:solidFill>
                                <a:srgbClr val="7A7E85"/>
                              </a:solidFill>
                              <a:effectLst/>
                            </a:rPr>
                            <a:t># Constraints</a:t>
                          </a:r>
                          <a:endParaRPr lang="en-US" sz="1600">
                            <a:solidFill>
                              <a:srgbClr val="BCBEC4"/>
                            </a:solidFill>
                            <a:effectLst/>
                          </a:endParaRPr>
                        </a:p>
                        <a:p>
                          <a: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  <a:t>…</a:t>
                          </a:r>
                        </a:p>
                        <a:p>
                          <a:r>
                            <a:rPr lang="en-US" sz="1600">
                              <a:solidFill>
                                <a:srgbClr val="7A7E85"/>
                              </a:solidFill>
                              <a:effectLst/>
                            </a:rPr>
                            <a:t># Solve</a:t>
                          </a:r>
                        </a:p>
                        <a:p>
                          <a:r>
                            <a:rPr lang="en-US" sz="1600">
                              <a:solidFill>
                                <a:srgbClr val="BCBEC4"/>
                              </a:solidFill>
                              <a:effectLst/>
                            </a:rPr>
                            <a:t>model.solve()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07473574"/>
                      </a:ext>
                    </a:extLst>
                  </a:tr>
                  <a:tr h="5684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BE" sz="20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444197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6" name="Cylinder 25">
            <a:extLst>
              <a:ext uri="{FF2B5EF4-FFF2-40B4-BE49-F238E27FC236}">
                <a16:creationId xmlns:a16="http://schemas.microsoft.com/office/drawing/2014/main" id="{A93F9BCB-4B0A-7605-90EF-3D5D2B404383}"/>
              </a:ext>
            </a:extLst>
          </p:cNvPr>
          <p:cNvSpPr/>
          <p:nvPr/>
        </p:nvSpPr>
        <p:spPr>
          <a:xfrm>
            <a:off x="4769394" y="4916318"/>
            <a:ext cx="1184798" cy="148421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Gill Sans Nova" panose="020B06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19AD8B4-517E-6D5E-6545-8219187B4963}"/>
                  </a:ext>
                </a:extLst>
              </p:cNvPr>
              <p:cNvSpPr txBox="1"/>
              <p:nvPr/>
            </p:nvSpPr>
            <p:spPr>
              <a:xfrm>
                <a:off x="4762754" y="5441498"/>
                <a:ext cx="1184798" cy="471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6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Q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j</m:t>
                                      </m:r>
                                    </m:sub>
                                  </m:sSub>
                                  <m:r>
                                    <a:rPr lang="en-US" sz="1600" b="0" i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j</m:t>
                          </m:r>
                          <m:r>
                            <a:rPr lang="en-US" sz="16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n</m:t>
                          </m:r>
                        </m:sup>
                      </m:sSubSup>
                    </m:oMath>
                  </m:oMathPara>
                </a14:m>
                <a:endParaRPr lang="en-BE" sz="1600" dirty="0">
                  <a:solidFill>
                    <a:schemeClr val="bg2"/>
                  </a:solidFill>
                  <a:latin typeface="Gill Sans Nova" panose="020B0602020104020203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19AD8B4-517E-6D5E-6545-8219187B4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754" y="5441498"/>
                <a:ext cx="1184798" cy="471860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Graphic 28" descr="Web design outline">
            <a:extLst>
              <a:ext uri="{FF2B5EF4-FFF2-40B4-BE49-F238E27FC236}">
                <a16:creationId xmlns:a16="http://schemas.microsoft.com/office/drawing/2014/main" id="{85BE7D20-D90A-7AFE-5ABA-854867FDAE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7836" y="3583556"/>
            <a:ext cx="1184753" cy="118475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6AEAD6C5-4A4F-E6EC-F1F8-1DAD6ADC38B7}"/>
              </a:ext>
            </a:extLst>
          </p:cNvPr>
          <p:cNvSpPr/>
          <p:nvPr/>
        </p:nvSpPr>
        <p:spPr>
          <a:xfrm>
            <a:off x="6843322" y="1443905"/>
            <a:ext cx="927370" cy="42801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D5C3648-CA82-2707-C5EB-4631360FB09F}"/>
              </a:ext>
            </a:extLst>
          </p:cNvPr>
          <p:cNvSpPr/>
          <p:nvPr/>
        </p:nvSpPr>
        <p:spPr>
          <a:xfrm>
            <a:off x="5834580" y="863838"/>
            <a:ext cx="927370" cy="42801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D815EB-463A-682A-8A94-FD3F92D16474}"/>
              </a:ext>
            </a:extLst>
          </p:cNvPr>
          <p:cNvSpPr/>
          <p:nvPr/>
        </p:nvSpPr>
        <p:spPr>
          <a:xfrm>
            <a:off x="1622120" y="3951963"/>
            <a:ext cx="3100192" cy="989555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96B45-5ADC-0429-F570-74F78DA36388}"/>
              </a:ext>
            </a:extLst>
          </p:cNvPr>
          <p:cNvSpPr/>
          <p:nvPr/>
        </p:nvSpPr>
        <p:spPr>
          <a:xfrm>
            <a:off x="1622120" y="5022819"/>
            <a:ext cx="2116899" cy="570729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07240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6" grpId="0" animBg="1"/>
      <p:bldP spid="27" grpId="0"/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8A07-0366-839A-0A2A-BE51C1519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09936" cy="1325563"/>
          </a:xfrm>
        </p:spPr>
        <p:txBody>
          <a:bodyPr>
            <a:normAutofit/>
          </a:bodyPr>
          <a:lstStyle/>
          <a:p>
            <a:r>
              <a:rPr lang="en-US" dirty="0"/>
              <a:t>Named Entity Recognition</a:t>
            </a:r>
            <a:endParaRPr lang="en-BE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8A7CBFD-09D0-23E2-BCD8-BED6C5861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7883"/>
            <a:ext cx="4473102" cy="911504"/>
          </a:xfrm>
        </p:spPr>
        <p:txBody>
          <a:bodyPr>
            <a:normAutofit/>
          </a:bodyPr>
          <a:lstStyle/>
          <a:p>
            <a:r>
              <a:rPr lang="en-US" dirty="0"/>
              <a:t>Identify entities and parameters of the problem:</a:t>
            </a:r>
          </a:p>
        </p:txBody>
      </p:sp>
      <p:pic>
        <p:nvPicPr>
          <p:cNvPr id="4" name="Content Placeholder 9" descr="A diagram of a blueprint model&#10;&#10;Description automatically generated">
            <a:extLst>
              <a:ext uri="{FF2B5EF4-FFF2-40B4-BE49-F238E27FC236}">
                <a16:creationId xmlns:a16="http://schemas.microsoft.com/office/drawing/2014/main" id="{25B856DC-221F-3893-B557-1FC4BBA58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336" y="272374"/>
            <a:ext cx="5857464" cy="160275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28ABCEC-1880-1765-67B8-882003EDFC32}"/>
              </a:ext>
            </a:extLst>
          </p:cNvPr>
          <p:cNvSpPr/>
          <p:nvPr/>
        </p:nvSpPr>
        <p:spPr>
          <a:xfrm>
            <a:off x="5496336" y="859744"/>
            <a:ext cx="927370" cy="42801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39006B6-62FA-5659-09CB-89A54727117E}"/>
              </a:ext>
            </a:extLst>
          </p:cNvPr>
          <p:cNvSpPr/>
          <p:nvPr/>
        </p:nvSpPr>
        <p:spPr>
          <a:xfrm>
            <a:off x="6501319" y="1454536"/>
            <a:ext cx="927370" cy="42801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CE5156-BA24-E3FA-BCE0-990581F9DCE6}"/>
              </a:ext>
            </a:extLst>
          </p:cNvPr>
          <p:cNvSpPr/>
          <p:nvPr/>
        </p:nvSpPr>
        <p:spPr>
          <a:xfrm>
            <a:off x="8171234" y="1425006"/>
            <a:ext cx="927370" cy="42801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917788-4B15-5F38-3965-5B077D9E7C97}"/>
                  </a:ext>
                </a:extLst>
              </p:cNvPr>
              <p:cNvSpPr txBox="1"/>
              <p:nvPr/>
            </p:nvSpPr>
            <p:spPr>
              <a:xfrm>
                <a:off x="175098" y="2767280"/>
                <a:ext cx="5635557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br>
                  <a:rPr lang="en-US" sz="2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𝐵𝑀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𝐿𝐿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pt-BR" sz="200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𝑁𝐿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b="0" i="1" dirty="0">
                    <a:latin typeface="Cambria Math" panose="02040503050406030204" pitchFamily="18" charset="0"/>
                  </a:rPr>
                  <a:t>1.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𝑁𝐿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𝑁𝐿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𝐸𝑇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𝐵𝑀</m:t>
                          </m:r>
                        </m:sub>
                      </m:sSub>
                      <m:r>
                        <a:rPr lang="pt-BR" sz="20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917788-4B15-5F38-3965-5B077D9E7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98" y="2767280"/>
                <a:ext cx="5635557" cy="1323439"/>
              </a:xfrm>
              <a:prstGeom prst="rect">
                <a:avLst/>
              </a:prstGeom>
              <a:blipFill>
                <a:blip r:embed="rId3"/>
                <a:stretch>
                  <a:fillRect l="-1190" b="-3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EF9D87A9-461A-C74B-B257-185EA19344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3289772"/>
                  </p:ext>
                </p:extLst>
              </p:nvPr>
            </p:nvGraphicFramePr>
            <p:xfrm>
              <a:off x="5408579" y="2513270"/>
              <a:ext cx="6705601" cy="417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8315">
                      <a:extLst>
                        <a:ext uri="{9D8B030D-6E8A-4147-A177-3AD203B41FA5}">
                          <a16:colId xmlns:a16="http://schemas.microsoft.com/office/drawing/2014/main" val="2706320512"/>
                        </a:ext>
                      </a:extLst>
                    </a:gridCol>
                    <a:gridCol w="3054485">
                      <a:extLst>
                        <a:ext uri="{9D8B030D-6E8A-4147-A177-3AD203B41FA5}">
                          <a16:colId xmlns:a16="http://schemas.microsoft.com/office/drawing/2014/main" val="2804090444"/>
                        </a:ext>
                      </a:extLst>
                    </a:gridCol>
                    <a:gridCol w="3352801">
                      <a:extLst>
                        <a:ext uri="{9D8B030D-6E8A-4147-A177-3AD203B41FA5}">
                          <a16:colId xmlns:a16="http://schemas.microsoft.com/office/drawing/2014/main" val="342112926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  <m:t>𝒋</m:t>
                                </m:r>
                              </m:oMath>
                            </m:oMathPara>
                          </a14:m>
                          <a:endParaRPr lang="en-BE" sz="1400" dirty="0"/>
                        </a:p>
                        <a:p>
                          <a:endParaRPr lang="en-B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B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𝒐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BE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3912734"/>
                      </a:ext>
                    </a:extLst>
                  </a:tr>
                  <a:tr h="218034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B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retired professor wants to invest up to $50000 in the airline and railway industries. Each dollar invested in the airline industry yields a $0.30 profit and each dollar invested in the railway industry yields a $0.10 profit. A minimum of $10000 must be invested in the railway industry and at least 25% of all money invested must be in the airline industry. Maximize the professor's profit.</a:t>
                          </a:r>
                        </a:p>
                        <a:p>
                          <a:r>
                            <a:rPr lang="en-US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CONST_DIR (36-41): up to</a:t>
                          </a:r>
                        </a:p>
                        <a:p>
                          <a:r>
                            <a:rPr lang="en-US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LIMIT (44-49): 50000</a:t>
                          </a:r>
                        </a:p>
                        <a:p>
                          <a:r>
                            <a:rPr lang="en-US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VAR (57-64): airline</a:t>
                          </a:r>
                        </a:p>
                        <a:p>
                          <a:r>
                            <a:rPr lang="en-US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VAR (69-87): railway industries</a:t>
                          </a:r>
                        </a:p>
                        <a:p>
                          <a:r>
                            <a:rPr lang="en-US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VAR (118-134): airline industry</a:t>
                          </a:r>
                        </a:p>
                        <a:p>
                          <a:r>
                            <a:rPr lang="en-US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PARAM (146-150): 0.30</a:t>
                          </a:r>
                        </a:p>
                        <a:p>
                          <a:r>
                            <a:rPr lang="en-US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OBJ_NAME (151-157): profit</a:t>
                          </a:r>
                        </a:p>
                        <a:p>
                          <a:r>
                            <a:rPr lang="en-US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  <a:p>
                          <a:r>
                            <a:rPr lang="en-US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VAR (349-365): airline industry</a:t>
                          </a:r>
                        </a:p>
                        <a:p>
                          <a:r>
                            <a:rPr lang="en-US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OBJ_DIR (403-411): maximize</a:t>
                          </a:r>
                        </a:p>
                        <a:p>
                          <a:r>
                            <a:rPr lang="en-US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OBJ_NAME (429-435): profit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Decision Variables:</a:t>
                          </a:r>
                        </a:p>
                        <a:p>
                          <a:r>
                            <a:rPr lang="en-US" sz="1000" dirty="0"/>
                            <a:t>-Amount invested in the airline industry: Airline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 dirty="0"/>
                            <a:t>-Amount invested in the railway industry: Railway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endParaRPr lang="en-US" sz="1000" dirty="0"/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 dirty="0"/>
                            <a:t>Constraints: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 dirty="0"/>
                            <a:t>-Total investment should not exceed 50000 dollars: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 dirty="0"/>
                            <a:t>Airline + Railway &lt;= 50000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 dirty="0"/>
                            <a:t>-Minimum investment of 10000 dollars in the railway: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 dirty="0"/>
                            <a:t>Railway &gt;= 10000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 dirty="0"/>
                            <a:t>-At least 25% of all money invested must be in the airline: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 dirty="0"/>
                            <a:t>Airline &gt;= 0.25 * (Airline + Railway)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endParaRPr lang="en-US" sz="1000" dirty="0"/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 dirty="0"/>
                            <a:t>Objective: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 dirty="0"/>
                            <a:t>-Maximize profit ($0.30 profit per dollar invested in the airline industry, $0.10 profit per dollar invested in the railway industry):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 dirty="0"/>
                            <a:t>0.30 * Airline + 0.10 * Railway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07473574"/>
                      </a:ext>
                    </a:extLst>
                  </a:tr>
                  <a:tr h="311983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…</a:t>
                          </a:r>
                          <a:endParaRPr lang="en-B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…</a:t>
                          </a:r>
                          <a:endParaRPr lang="en-BE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…</a:t>
                          </a:r>
                          <a:endParaRPr lang="en-BE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4419779"/>
                      </a:ext>
                    </a:extLst>
                  </a:tr>
                  <a:tr h="31198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B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…</a:t>
                          </a:r>
                          <a:endParaRPr lang="en-BE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…</a:t>
                          </a:r>
                          <a:endParaRPr lang="en-BE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3921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EF9D87A9-461A-C74B-B257-185EA19344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3289772"/>
                  </p:ext>
                </p:extLst>
              </p:nvPr>
            </p:nvGraphicFramePr>
            <p:xfrm>
              <a:off x="5408579" y="2513270"/>
              <a:ext cx="6705601" cy="417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8315">
                      <a:extLst>
                        <a:ext uri="{9D8B030D-6E8A-4147-A177-3AD203B41FA5}">
                          <a16:colId xmlns:a16="http://schemas.microsoft.com/office/drawing/2014/main" val="2706320512"/>
                        </a:ext>
                      </a:extLst>
                    </a:gridCol>
                    <a:gridCol w="3054485">
                      <a:extLst>
                        <a:ext uri="{9D8B030D-6E8A-4147-A177-3AD203B41FA5}">
                          <a16:colId xmlns:a16="http://schemas.microsoft.com/office/drawing/2014/main" val="2804090444"/>
                        </a:ext>
                      </a:extLst>
                    </a:gridCol>
                    <a:gridCol w="3352801">
                      <a:extLst>
                        <a:ext uri="{9D8B030D-6E8A-4147-A177-3AD203B41FA5}">
                          <a16:colId xmlns:a16="http://schemas.microsoft.com/office/drawing/2014/main" val="3421129262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41" t="-1176" r="-2155102" b="-70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980" t="-1176" r="-110778" b="-70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176" r="-726" b="-70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3912734"/>
                      </a:ext>
                    </a:extLst>
                  </a:tr>
                  <a:tr h="2987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41" t="-17515" r="-2155102" b="-228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retired professor wants to invest up to $50000 in the airline and railway industries. Each dollar invested in the airline industry yields a $0.30 profit and each dollar invested in the railway industry yields a $0.10 profit. A minimum of $10000 must be invested in the railway industry and at least 25% of all money invested must be in the airline industry. Maximize the professor's profit.</a:t>
                          </a:r>
                        </a:p>
                        <a:p>
                          <a:r>
                            <a:rPr lang="en-US" sz="10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CONST_DIR (36-41): up to</a:t>
                          </a:r>
                        </a:p>
                        <a:p>
                          <a:r>
                            <a:rPr lang="en-US" sz="10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LIMIT (44-49): 50000</a:t>
                          </a:r>
                        </a:p>
                        <a:p>
                          <a:r>
                            <a:rPr lang="en-US" sz="10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VAR (57-64): airline</a:t>
                          </a:r>
                        </a:p>
                        <a:p>
                          <a:r>
                            <a:rPr lang="en-US" sz="10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VAR (69-87): railway industries</a:t>
                          </a:r>
                        </a:p>
                        <a:p>
                          <a:r>
                            <a:rPr lang="en-US" sz="10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VAR (118-134): airline industry</a:t>
                          </a:r>
                        </a:p>
                        <a:p>
                          <a:r>
                            <a:rPr lang="en-US" sz="10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PARAM (146-150): 0.30</a:t>
                          </a:r>
                        </a:p>
                        <a:p>
                          <a:r>
                            <a:rPr lang="en-US" sz="10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OBJ_NAME (151-157): profit</a:t>
                          </a:r>
                        </a:p>
                        <a:p>
                          <a:r>
                            <a:rPr lang="en-US" sz="10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  <a:p>
                          <a:r>
                            <a:rPr lang="en-US" sz="10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VAR (349-365): airline industry</a:t>
                          </a:r>
                        </a:p>
                        <a:p>
                          <a:r>
                            <a:rPr lang="en-US" sz="10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OBJ_DIR (403-411): maximize</a:t>
                          </a:r>
                        </a:p>
                        <a:p>
                          <a:r>
                            <a:rPr lang="en-US" sz="10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OBJ_NAME (429-435): profit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/>
                            <a:t>Decision Variables:</a:t>
                          </a:r>
                        </a:p>
                        <a:p>
                          <a:r>
                            <a:rPr lang="en-US" sz="1000"/>
                            <a:t>-Amount invested in the airline industry: Airline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/>
                            <a:t>-Amount invested in the railway industry: Railway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endParaRPr lang="en-US" sz="1000"/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/>
                            <a:t>Constraints: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/>
                            <a:t>-Total investment should not exceed 50000 dollars: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/>
                            <a:t>Airline + Railway &lt;= 50000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/>
                            <a:t>-Minimum investment of 10000 dollars in the railway: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/>
                            <a:t>Railway &gt;= 10000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/>
                            <a:t>-At least 25% of all money invested must be in the airline: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/>
                            <a:t>Airline &gt;= 0.25 * (Airline + Railway)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endParaRPr lang="en-US" sz="1000"/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/>
                            <a:t>Objective: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/>
                            <a:t>-Maximize profit ($0.30 profit per dollar invested in the airline industry, $0.10 profit per dollar invested in the railway industry):</a:t>
                          </a:r>
                        </a:p>
                        <a:p>
                          <a:pPr marL="0" indent="0">
                            <a:buFontTx/>
                            <a:buNone/>
                          </a:pPr>
                          <a:r>
                            <a:rPr lang="en-US" sz="1000"/>
                            <a:t>0.30 * Airline + 0.10 * Railway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0747357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…</a:t>
                          </a:r>
                          <a:endParaRPr lang="en-BE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/>
                            <a:t>…</a:t>
                          </a:r>
                          <a:endParaRPr lang="en-BE" sz="1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/>
                            <a:t>…</a:t>
                          </a:r>
                          <a:endParaRPr lang="en-BE" sz="1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441977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41" t="-1149091" r="-2155102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/>
                            <a:t>…</a:t>
                          </a:r>
                          <a:endParaRPr lang="en-BE" sz="1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/>
                            <a:t>…</a:t>
                          </a:r>
                          <a:endParaRPr lang="en-BE" sz="1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3921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CE0C9DF-BE88-D147-E2DB-A11770A38863}"/>
                  </a:ext>
                </a:extLst>
              </p:cNvPr>
              <p:cNvSpPr txBox="1"/>
              <p:nvPr/>
            </p:nvSpPr>
            <p:spPr>
              <a:xfrm>
                <a:off x="6152248" y="1948693"/>
                <a:ext cx="557374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𝑁𝐿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𝐸𝑇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𝐵𝑀</m:t>
                          </m:r>
                        </m:sub>
                      </m:sSub>
                    </m:oMath>
                  </m:oMathPara>
                </a14:m>
                <a:endParaRPr lang="en-BE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CE0C9DF-BE88-D147-E2DB-A11770A38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248" y="1948693"/>
                <a:ext cx="557374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E4F75FE3-AC94-183C-240F-5C60A33DD9A2}"/>
              </a:ext>
            </a:extLst>
          </p:cNvPr>
          <p:cNvSpPr/>
          <p:nvPr/>
        </p:nvSpPr>
        <p:spPr>
          <a:xfrm>
            <a:off x="2778868" y="3731404"/>
            <a:ext cx="411804" cy="3366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6C9019-BAB7-AA24-BD42-5585AAB7D6AC}"/>
              </a:ext>
            </a:extLst>
          </p:cNvPr>
          <p:cNvSpPr/>
          <p:nvPr/>
        </p:nvSpPr>
        <p:spPr>
          <a:xfrm>
            <a:off x="4046706" y="3119045"/>
            <a:ext cx="411804" cy="3366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03F300-9299-6370-213C-E4492C1FE979}"/>
              </a:ext>
            </a:extLst>
          </p:cNvPr>
          <p:cNvSpPr/>
          <p:nvPr/>
        </p:nvSpPr>
        <p:spPr>
          <a:xfrm>
            <a:off x="5753911" y="4274630"/>
            <a:ext cx="1859604" cy="172362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0EA5D2-ED19-6FDC-6637-6156DB0899CA}"/>
              </a:ext>
            </a:extLst>
          </p:cNvPr>
          <p:cNvSpPr/>
          <p:nvPr/>
        </p:nvSpPr>
        <p:spPr>
          <a:xfrm>
            <a:off x="8761379" y="3037498"/>
            <a:ext cx="3255523" cy="268236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DAF0D6-E580-F99E-35E9-DADBB238E6A7}"/>
              </a:ext>
            </a:extLst>
          </p:cNvPr>
          <p:cNvSpPr/>
          <p:nvPr/>
        </p:nvSpPr>
        <p:spPr>
          <a:xfrm>
            <a:off x="1410512" y="3156581"/>
            <a:ext cx="541506" cy="29908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57619D0-198B-CA5D-EB3F-118ADB6A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21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0750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8A07-0366-839A-0A2A-BE51C1519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09936" cy="1325563"/>
          </a:xfrm>
        </p:spPr>
        <p:txBody>
          <a:bodyPr>
            <a:normAutofit/>
          </a:bodyPr>
          <a:lstStyle/>
          <a:p>
            <a:r>
              <a:rPr lang="en-US" dirty="0"/>
              <a:t>Named Entity Recognition</a:t>
            </a:r>
            <a:endParaRPr lang="en-BE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8A7CBFD-09D0-23E2-BCD8-BED6C5861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7883"/>
            <a:ext cx="4473102" cy="911504"/>
          </a:xfrm>
        </p:spPr>
        <p:txBody>
          <a:bodyPr>
            <a:normAutofit/>
          </a:bodyPr>
          <a:lstStyle/>
          <a:p>
            <a:r>
              <a:rPr lang="en-US" dirty="0"/>
              <a:t>Identify entities and parameters of the problem:</a:t>
            </a:r>
          </a:p>
        </p:txBody>
      </p:sp>
      <p:pic>
        <p:nvPicPr>
          <p:cNvPr id="4" name="Content Placeholder 9" descr="A diagram of a blueprint model&#10;&#10;Description automatically generated">
            <a:extLst>
              <a:ext uri="{FF2B5EF4-FFF2-40B4-BE49-F238E27FC236}">
                <a16:creationId xmlns:a16="http://schemas.microsoft.com/office/drawing/2014/main" id="{25B856DC-221F-3893-B557-1FC4BBA58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336" y="272374"/>
            <a:ext cx="5857464" cy="160275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28ABCEC-1880-1765-67B8-882003EDFC32}"/>
              </a:ext>
            </a:extLst>
          </p:cNvPr>
          <p:cNvSpPr/>
          <p:nvPr/>
        </p:nvSpPr>
        <p:spPr>
          <a:xfrm>
            <a:off x="5496336" y="859744"/>
            <a:ext cx="927370" cy="42801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39006B6-62FA-5659-09CB-89A54727117E}"/>
              </a:ext>
            </a:extLst>
          </p:cNvPr>
          <p:cNvSpPr/>
          <p:nvPr/>
        </p:nvSpPr>
        <p:spPr>
          <a:xfrm>
            <a:off x="6501319" y="1454536"/>
            <a:ext cx="927370" cy="42801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CE5156-BA24-E3FA-BCE0-990581F9DCE6}"/>
              </a:ext>
            </a:extLst>
          </p:cNvPr>
          <p:cNvSpPr/>
          <p:nvPr/>
        </p:nvSpPr>
        <p:spPr>
          <a:xfrm>
            <a:off x="8171234" y="1425006"/>
            <a:ext cx="927370" cy="42801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917788-4B15-5F38-3965-5B077D9E7C97}"/>
                  </a:ext>
                </a:extLst>
              </p:cNvPr>
              <p:cNvSpPr txBox="1"/>
              <p:nvPr/>
            </p:nvSpPr>
            <p:spPr>
              <a:xfrm>
                <a:off x="175098" y="2767280"/>
                <a:ext cx="5635557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br>
                  <a:rPr lang="en-US" sz="2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𝐵𝑀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𝐿𝐿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pt-BR" sz="200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𝑁𝐿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b="0" i="1" dirty="0">
                    <a:latin typeface="Cambria Math" panose="02040503050406030204" pitchFamily="18" charset="0"/>
                  </a:rPr>
                  <a:t>1.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𝑁𝐿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𝑁𝐿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𝐸𝑇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𝐵𝑀</m:t>
                          </m:r>
                        </m:sub>
                      </m:sSub>
                      <m:r>
                        <a:rPr lang="pt-BR" sz="20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917788-4B15-5F38-3965-5B077D9E7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98" y="2767280"/>
                <a:ext cx="5635557" cy="1323439"/>
              </a:xfrm>
              <a:prstGeom prst="rect">
                <a:avLst/>
              </a:prstGeom>
              <a:blipFill>
                <a:blip r:embed="rId3"/>
                <a:stretch>
                  <a:fillRect l="-1190" b="-3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7FA94E-7182-FF80-6BA1-5D6297A1903F}"/>
                  </a:ext>
                </a:extLst>
              </p:cNvPr>
              <p:cNvSpPr txBox="1"/>
              <p:nvPr/>
            </p:nvSpPr>
            <p:spPr>
              <a:xfrm>
                <a:off x="175098" y="4344730"/>
                <a:ext cx="568743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br>
                  <a:rPr lang="en-US" sz="2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𝐶𝑃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𝐿𝐿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pt-BR" sz="200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𝑁𝐿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𝐵𝑀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b="0" i="1" dirty="0">
                    <a:latin typeface="Cambria Math" panose="02040503050406030204" pitchFamily="18" charset="0"/>
                  </a:rPr>
                  <a:t>2.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𝑁𝐿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𝐵𝑀</m:t>
                          </m:r>
                        </m:sub>
                      </m:sSub>
                      <m:r>
                        <a:rPr lang="pt-BR" sz="20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𝑁𝐿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𝐸𝑇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𝐵𝑀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𝐶𝑃</m:t>
                          </m:r>
                        </m:sub>
                      </m:sSub>
                      <m:r>
                        <a:rPr lang="pt-BR" sz="20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7FA94E-7182-FF80-6BA1-5D6297A19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98" y="4344730"/>
                <a:ext cx="5687438" cy="1323439"/>
              </a:xfrm>
              <a:prstGeom prst="rect">
                <a:avLst/>
              </a:prstGeom>
              <a:blipFill>
                <a:blip r:embed="rId4"/>
                <a:stretch>
                  <a:fillRect l="-1179" b="-3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EF9D87A9-461A-C74B-B257-185EA19344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8714846"/>
                  </p:ext>
                </p:extLst>
              </p:nvPr>
            </p:nvGraphicFramePr>
            <p:xfrm>
              <a:off x="5408579" y="2513270"/>
              <a:ext cx="6705601" cy="402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8315">
                      <a:extLst>
                        <a:ext uri="{9D8B030D-6E8A-4147-A177-3AD203B41FA5}">
                          <a16:colId xmlns:a16="http://schemas.microsoft.com/office/drawing/2014/main" val="2706320512"/>
                        </a:ext>
                      </a:extLst>
                    </a:gridCol>
                    <a:gridCol w="3054485">
                      <a:extLst>
                        <a:ext uri="{9D8B030D-6E8A-4147-A177-3AD203B41FA5}">
                          <a16:colId xmlns:a16="http://schemas.microsoft.com/office/drawing/2014/main" val="2804090444"/>
                        </a:ext>
                      </a:extLst>
                    </a:gridCol>
                    <a:gridCol w="3352801">
                      <a:extLst>
                        <a:ext uri="{9D8B030D-6E8A-4147-A177-3AD203B41FA5}">
                          <a16:colId xmlns:a16="http://schemas.microsoft.com/office/drawing/2014/main" val="342112926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  <m:t>𝒋</m:t>
                                </m:r>
                              </m:oMath>
                            </m:oMathPara>
                          </a14:m>
                          <a:endParaRPr lang="en-BE" sz="1400" dirty="0"/>
                        </a:p>
                        <a:p>
                          <a:endParaRPr lang="en-B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B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𝒐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BE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3912734"/>
                      </a:ext>
                    </a:extLst>
                  </a:tr>
                  <a:tr h="218034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B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retired professor wants to invest up to $50000 in the airline and railway industries. Each dollar invested in the airline industry yields a $0.30 profit and each dollar invested in the railway industry yields a $0.10 profit. A minimum of $10000 must be invested in the railway industry and at least 25% of all money invested must be in the airline industry. Maximize the professor's profit.</a:t>
                          </a:r>
                        </a:p>
                        <a:p>
                          <a:endParaRPr lang="en-US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CONST_DIR (36-41): up to</a:t>
                          </a:r>
                        </a:p>
                        <a:p>
                          <a:r>
                            <a:rPr lang="en-US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LIMIT (44-49): 50000</a:t>
                          </a:r>
                        </a:p>
                        <a:p>
                          <a:r>
                            <a:rPr lang="en-US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  <a:p>
                          <a:endParaRPr lang="en-US" sz="1000" dirty="0"/>
                        </a:p>
                        <a:p>
                          <a:r>
                            <a:rPr lang="en-US" sz="1000" dirty="0"/>
                            <a:t>Decision Variables:</a:t>
                          </a:r>
                        </a:p>
                        <a:p>
                          <a:r>
                            <a:rPr lang="en-US" sz="1000" dirty="0"/>
                            <a:t>-Amount invested in the airline industry: Airline</a:t>
                          </a:r>
                        </a:p>
                        <a:p>
                          <a:r>
                            <a:rPr lang="en-US" sz="1000" dirty="0"/>
                            <a:t>…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dirty="0"/>
                            <a:t>0.30 * Airline + 0.10 * Railway</a:t>
                          </a:r>
                        </a:p>
                        <a:p>
                          <a:endParaRPr lang="en-US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 dirty="0"/>
                            <a:t>from </a:t>
                          </a:r>
                          <a:r>
                            <a:rPr lang="en-US" sz="800" dirty="0" err="1"/>
                            <a:t>cpmpy</a:t>
                          </a:r>
                          <a:r>
                            <a:rPr lang="en-US" sz="800" dirty="0"/>
                            <a:t> import Model, </a:t>
                          </a:r>
                          <a:r>
                            <a:rPr lang="en-US" sz="800" dirty="0" err="1"/>
                            <a:t>intvar</a:t>
                          </a:r>
                          <a:endParaRPr lang="en-US" sz="800" dirty="0"/>
                        </a:p>
                        <a:p>
                          <a:endParaRPr lang="en-US" sz="800" dirty="0"/>
                        </a:p>
                        <a:p>
                          <a:r>
                            <a:rPr lang="en-US" sz="800" dirty="0"/>
                            <a:t># Decision Variables (one for each industry)</a:t>
                          </a:r>
                        </a:p>
                        <a:p>
                          <a:r>
                            <a:rPr lang="en-US" sz="800" dirty="0"/>
                            <a:t>Airline = </a:t>
                          </a:r>
                          <a:r>
                            <a:rPr lang="en-US" sz="800" dirty="0" err="1"/>
                            <a:t>intvar</a:t>
                          </a:r>
                          <a:r>
                            <a:rPr lang="en-US" sz="800" dirty="0"/>
                            <a:t>(0, 1000)  # investment in the airline industry</a:t>
                          </a:r>
                        </a:p>
                        <a:p>
                          <a:r>
                            <a:rPr lang="en-US" sz="800" dirty="0"/>
                            <a:t>Railway = </a:t>
                          </a:r>
                          <a:r>
                            <a:rPr lang="en-US" sz="800" dirty="0" err="1"/>
                            <a:t>intvar</a:t>
                          </a:r>
                          <a:r>
                            <a:rPr lang="en-US" sz="800" dirty="0"/>
                            <a:t>(0, 1000)  # investment in the railway industry</a:t>
                          </a:r>
                        </a:p>
                        <a:p>
                          <a:endParaRPr lang="en-US" sz="800" dirty="0"/>
                        </a:p>
                        <a:p>
                          <a:r>
                            <a:rPr lang="en-US" sz="800" dirty="0"/>
                            <a:t># Constraints</a:t>
                          </a:r>
                        </a:p>
                        <a:p>
                          <a:r>
                            <a:rPr lang="en-US" sz="800" dirty="0"/>
                            <a:t>m = Model()</a:t>
                          </a:r>
                        </a:p>
                        <a:p>
                          <a:endParaRPr lang="en-US" sz="800" dirty="0"/>
                        </a:p>
                        <a:p>
                          <a:r>
                            <a:rPr lang="en-US" sz="800" dirty="0"/>
                            <a:t># Total investment should not exceed $50000:</a:t>
                          </a:r>
                        </a:p>
                        <a:p>
                          <a:r>
                            <a:rPr lang="en-US" sz="800" dirty="0"/>
                            <a:t>m += Airline + Railway &lt;= 50000</a:t>
                          </a:r>
                        </a:p>
                        <a:p>
                          <a:r>
                            <a:rPr lang="en-US" sz="800" dirty="0"/>
                            <a:t># Minimum investment of $10000 in the railway industry:</a:t>
                          </a:r>
                        </a:p>
                        <a:p>
                          <a:r>
                            <a:rPr lang="en-US" sz="800" dirty="0"/>
                            <a:t>m += Railway &gt;= 10000</a:t>
                          </a:r>
                        </a:p>
                        <a:p>
                          <a:r>
                            <a:rPr lang="en-US" sz="800" dirty="0"/>
                            <a:t># At least 25% of all money invested must be in the airline industry:</a:t>
                          </a:r>
                        </a:p>
                        <a:p>
                          <a:r>
                            <a:rPr lang="en-US" sz="800" dirty="0"/>
                            <a:t>m += Airline &gt;= 0.25 * (Airline + Railway)</a:t>
                          </a:r>
                        </a:p>
                        <a:p>
                          <a:endParaRPr lang="en-US" sz="800" dirty="0"/>
                        </a:p>
                        <a:p>
                          <a:r>
                            <a:rPr lang="en-US" sz="800" dirty="0"/>
                            <a:t># Objective</a:t>
                          </a:r>
                        </a:p>
                        <a:p>
                          <a:r>
                            <a:rPr lang="en-US" sz="800" dirty="0"/>
                            <a:t># Maximize profit ($0.30 profit per dollar invested in the airline industry, $0.10 profit per dollar invested in the railway industry):</a:t>
                          </a:r>
                        </a:p>
                        <a:p>
                          <a:r>
                            <a:rPr lang="en-US" sz="800" dirty="0" err="1"/>
                            <a:t>m.maximize</a:t>
                          </a:r>
                          <a:r>
                            <a:rPr lang="en-US" sz="800" dirty="0"/>
                            <a:t>(0.30 * Airline + 0.10 * Railway)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07473574"/>
                      </a:ext>
                    </a:extLst>
                  </a:tr>
                  <a:tr h="311983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…</a:t>
                          </a:r>
                          <a:endParaRPr lang="en-B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…</a:t>
                          </a:r>
                          <a:endParaRPr lang="en-BE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…</a:t>
                          </a:r>
                          <a:endParaRPr lang="en-BE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4419779"/>
                      </a:ext>
                    </a:extLst>
                  </a:tr>
                  <a:tr h="31198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B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…</a:t>
                          </a:r>
                          <a:endParaRPr lang="en-BE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…</a:t>
                          </a:r>
                          <a:endParaRPr lang="en-BE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3921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EF9D87A9-461A-C74B-B257-185EA19344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8714846"/>
                  </p:ext>
                </p:extLst>
              </p:nvPr>
            </p:nvGraphicFramePr>
            <p:xfrm>
              <a:off x="5408579" y="2513270"/>
              <a:ext cx="6705601" cy="402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8315">
                      <a:extLst>
                        <a:ext uri="{9D8B030D-6E8A-4147-A177-3AD203B41FA5}">
                          <a16:colId xmlns:a16="http://schemas.microsoft.com/office/drawing/2014/main" val="2706320512"/>
                        </a:ext>
                      </a:extLst>
                    </a:gridCol>
                    <a:gridCol w="3054485">
                      <a:extLst>
                        <a:ext uri="{9D8B030D-6E8A-4147-A177-3AD203B41FA5}">
                          <a16:colId xmlns:a16="http://schemas.microsoft.com/office/drawing/2014/main" val="2804090444"/>
                        </a:ext>
                      </a:extLst>
                    </a:gridCol>
                    <a:gridCol w="3352801">
                      <a:extLst>
                        <a:ext uri="{9D8B030D-6E8A-4147-A177-3AD203B41FA5}">
                          <a16:colId xmlns:a16="http://schemas.microsoft.com/office/drawing/2014/main" val="3421129262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41" t="-1176" r="-2155102" b="-6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9980" t="-1176" r="-110778" b="-6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000" t="-1176" r="-726" b="-68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3912734"/>
                      </a:ext>
                    </a:extLst>
                  </a:tr>
                  <a:tr h="2834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41" t="-18455" r="-2155102" b="-24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retired professor wants to invest up to $50000 in the airline and railway industries. Each dollar invested in the airline industry yields a $0.30 profit and each dollar invested in the railway industry yields a $0.10 profit. A minimum of $10000 must be invested in the railway industry and at least 25% of all money invested must be in the airline industry. Maximize the professor's profit.</a:t>
                          </a:r>
                        </a:p>
                        <a:p>
                          <a:endParaRPr lang="en-US" sz="1000" kern="120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0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CONST_DIR (36-41): up to</a:t>
                          </a:r>
                        </a:p>
                        <a:p>
                          <a:r>
                            <a:rPr lang="en-US" sz="10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LIMIT (44-49): 50000</a:t>
                          </a:r>
                        </a:p>
                        <a:p>
                          <a:r>
                            <a:rPr lang="en-US" sz="100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  <a:p>
                          <a:endParaRPr lang="en-US" sz="1000"/>
                        </a:p>
                        <a:p>
                          <a:r>
                            <a:rPr lang="en-US" sz="1000"/>
                            <a:t>Decision Variables:</a:t>
                          </a:r>
                        </a:p>
                        <a:p>
                          <a:r>
                            <a:rPr lang="en-US" sz="1000"/>
                            <a:t>-Amount invested in the airline industry: Airline</a:t>
                          </a:r>
                        </a:p>
                        <a:p>
                          <a:r>
                            <a:rPr lang="en-US" sz="1000"/>
                            <a:t>…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/>
                            <a:t>0.30 * Airline + 0.10 * Railway</a:t>
                          </a:r>
                        </a:p>
                        <a:p>
                          <a:endParaRPr lang="en-US" sz="1000" kern="120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/>
                            <a:t>from </a:t>
                          </a:r>
                          <a:r>
                            <a:rPr lang="en-US" sz="800" err="1"/>
                            <a:t>cpmpy</a:t>
                          </a:r>
                          <a:r>
                            <a:rPr lang="en-US" sz="800"/>
                            <a:t> import Model, </a:t>
                          </a:r>
                          <a:r>
                            <a:rPr lang="en-US" sz="800" err="1"/>
                            <a:t>intvar</a:t>
                          </a:r>
                          <a:endParaRPr lang="en-US" sz="800"/>
                        </a:p>
                        <a:p>
                          <a:endParaRPr lang="en-US" sz="800"/>
                        </a:p>
                        <a:p>
                          <a:r>
                            <a:rPr lang="en-US" sz="800"/>
                            <a:t># Decision Variables (one for each industry)</a:t>
                          </a:r>
                        </a:p>
                        <a:p>
                          <a:r>
                            <a:rPr lang="en-US" sz="800"/>
                            <a:t>Airline = </a:t>
                          </a:r>
                          <a:r>
                            <a:rPr lang="en-US" sz="800" err="1"/>
                            <a:t>intvar</a:t>
                          </a:r>
                          <a:r>
                            <a:rPr lang="en-US" sz="800"/>
                            <a:t>(0, 1000)  # investment in the airline industry</a:t>
                          </a:r>
                        </a:p>
                        <a:p>
                          <a:r>
                            <a:rPr lang="en-US" sz="800"/>
                            <a:t>Railway = </a:t>
                          </a:r>
                          <a:r>
                            <a:rPr lang="en-US" sz="800" err="1"/>
                            <a:t>intvar</a:t>
                          </a:r>
                          <a:r>
                            <a:rPr lang="en-US" sz="800"/>
                            <a:t>(0, 1000)  # investment in the railway industry</a:t>
                          </a:r>
                        </a:p>
                        <a:p>
                          <a:endParaRPr lang="en-US" sz="800"/>
                        </a:p>
                        <a:p>
                          <a:r>
                            <a:rPr lang="en-US" sz="800"/>
                            <a:t># Constraints</a:t>
                          </a:r>
                        </a:p>
                        <a:p>
                          <a:r>
                            <a:rPr lang="en-US" sz="800"/>
                            <a:t>m = Model()</a:t>
                          </a:r>
                        </a:p>
                        <a:p>
                          <a:endParaRPr lang="en-US" sz="800"/>
                        </a:p>
                        <a:p>
                          <a:r>
                            <a:rPr lang="en-US" sz="800"/>
                            <a:t># Total investment should not exceed $50000:</a:t>
                          </a:r>
                        </a:p>
                        <a:p>
                          <a:r>
                            <a:rPr lang="en-US" sz="800"/>
                            <a:t>m += Airline + Railway &lt;= 50000</a:t>
                          </a:r>
                        </a:p>
                        <a:p>
                          <a:r>
                            <a:rPr lang="en-US" sz="800"/>
                            <a:t># Minimum investment of $10000 in the railway industry:</a:t>
                          </a:r>
                        </a:p>
                        <a:p>
                          <a:r>
                            <a:rPr lang="en-US" sz="800"/>
                            <a:t>m += Railway &gt;= 10000</a:t>
                          </a:r>
                        </a:p>
                        <a:p>
                          <a:r>
                            <a:rPr lang="en-US" sz="800"/>
                            <a:t># At least 25% of all money invested must be in the airline industry:</a:t>
                          </a:r>
                        </a:p>
                        <a:p>
                          <a:r>
                            <a:rPr lang="en-US" sz="800"/>
                            <a:t>m += Airline &gt;= 0.25 * (Airline + Railway)</a:t>
                          </a:r>
                        </a:p>
                        <a:p>
                          <a:endParaRPr lang="en-US" sz="800"/>
                        </a:p>
                        <a:p>
                          <a:r>
                            <a:rPr lang="en-US" sz="800"/>
                            <a:t># Objective</a:t>
                          </a:r>
                        </a:p>
                        <a:p>
                          <a:r>
                            <a:rPr lang="en-US" sz="800"/>
                            <a:t># Maximize profit ($0.30 profit per dollar invested in the airline industry, $0.10 profit per dollar invested in the railway industry):</a:t>
                          </a:r>
                        </a:p>
                        <a:p>
                          <a:r>
                            <a:rPr lang="en-US" sz="800" err="1"/>
                            <a:t>m.maximize</a:t>
                          </a:r>
                          <a:r>
                            <a:rPr lang="en-US" sz="800"/>
                            <a:t>(0.30 * Airline + 0.10 * Railway)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0747357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…</a:t>
                          </a:r>
                          <a:endParaRPr lang="en-BE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/>
                            <a:t>…</a:t>
                          </a:r>
                          <a:endParaRPr lang="en-BE" sz="1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/>
                            <a:t>…</a:t>
                          </a:r>
                          <a:endParaRPr lang="en-BE" sz="1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441977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41" t="-1103636" r="-2155102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/>
                            <a:t>…</a:t>
                          </a:r>
                          <a:endParaRPr lang="en-BE" sz="1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/>
                            <a:t>…</a:t>
                          </a:r>
                          <a:endParaRPr lang="en-BE" sz="1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3921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CE0C9DF-BE88-D147-E2DB-A11770A38863}"/>
                  </a:ext>
                </a:extLst>
              </p:cNvPr>
              <p:cNvSpPr txBox="1"/>
              <p:nvPr/>
            </p:nvSpPr>
            <p:spPr>
              <a:xfrm>
                <a:off x="6152248" y="1948693"/>
                <a:ext cx="557374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𝑁𝐿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𝐸𝑇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𝐵𝑀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𝐶𝑃</m:t>
                          </m:r>
                        </m:sub>
                      </m:sSub>
                    </m:oMath>
                  </m:oMathPara>
                </a14:m>
                <a:endParaRPr lang="en-BE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CE0C9DF-BE88-D147-E2DB-A11770A38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248" y="1948693"/>
                <a:ext cx="557374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01A3CB-7CF3-2494-D9ED-A7FB05FC5528}"/>
                  </a:ext>
                </a:extLst>
              </p:cNvPr>
              <p:cNvSpPr txBox="1"/>
              <p:nvPr/>
            </p:nvSpPr>
            <p:spPr>
              <a:xfrm>
                <a:off x="838200" y="6099402"/>
                <a:ext cx="33320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𝑪𝑷</m:t>
                          </m:r>
                        </m:sub>
                      </m:sSub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01A3CB-7CF3-2494-D9ED-A7FB05FC5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099402"/>
                <a:ext cx="333207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E4F75FE3-AC94-183C-240F-5C60A33DD9A2}"/>
              </a:ext>
            </a:extLst>
          </p:cNvPr>
          <p:cNvSpPr/>
          <p:nvPr/>
        </p:nvSpPr>
        <p:spPr>
          <a:xfrm>
            <a:off x="2778868" y="3731404"/>
            <a:ext cx="411804" cy="3366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6C9019-BAB7-AA24-BD42-5585AAB7D6AC}"/>
              </a:ext>
            </a:extLst>
          </p:cNvPr>
          <p:cNvSpPr/>
          <p:nvPr/>
        </p:nvSpPr>
        <p:spPr>
          <a:xfrm>
            <a:off x="4046706" y="3119045"/>
            <a:ext cx="411804" cy="3366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FA51E6-C07C-FFFA-EEFE-06D8E5D38651}"/>
              </a:ext>
            </a:extLst>
          </p:cNvPr>
          <p:cNvSpPr/>
          <p:nvPr/>
        </p:nvSpPr>
        <p:spPr>
          <a:xfrm>
            <a:off x="3634902" y="4681964"/>
            <a:ext cx="411804" cy="3366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7ED440-B3AC-5E72-B0C3-C3C535C8714D}"/>
              </a:ext>
            </a:extLst>
          </p:cNvPr>
          <p:cNvSpPr/>
          <p:nvPr/>
        </p:nvSpPr>
        <p:spPr>
          <a:xfrm>
            <a:off x="2243847" y="5331502"/>
            <a:ext cx="411804" cy="33661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03F300-9299-6370-213C-E4492C1FE979}"/>
              </a:ext>
            </a:extLst>
          </p:cNvPr>
          <p:cNvSpPr/>
          <p:nvPr/>
        </p:nvSpPr>
        <p:spPr>
          <a:xfrm>
            <a:off x="5753911" y="4451420"/>
            <a:ext cx="1752599" cy="45422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A521EE-5D3A-55A3-E178-0A0A82EDB1C5}"/>
              </a:ext>
            </a:extLst>
          </p:cNvPr>
          <p:cNvSpPr/>
          <p:nvPr/>
        </p:nvSpPr>
        <p:spPr>
          <a:xfrm>
            <a:off x="5753911" y="5017057"/>
            <a:ext cx="2605391" cy="66796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DF0404-A32F-80C4-6425-4BA59D752246}"/>
              </a:ext>
            </a:extLst>
          </p:cNvPr>
          <p:cNvSpPr/>
          <p:nvPr/>
        </p:nvSpPr>
        <p:spPr>
          <a:xfrm>
            <a:off x="4349886" y="4681963"/>
            <a:ext cx="462063" cy="38290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640C8D-82A6-FE0E-76A3-86141404D27A}"/>
              </a:ext>
            </a:extLst>
          </p:cNvPr>
          <p:cNvSpPr/>
          <p:nvPr/>
        </p:nvSpPr>
        <p:spPr>
          <a:xfrm>
            <a:off x="2911813" y="5285215"/>
            <a:ext cx="462063" cy="38290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ADC172-80BE-0CE9-F442-32CE1A178F73}"/>
              </a:ext>
            </a:extLst>
          </p:cNvPr>
          <p:cNvSpPr/>
          <p:nvPr/>
        </p:nvSpPr>
        <p:spPr>
          <a:xfrm>
            <a:off x="1468877" y="3095901"/>
            <a:ext cx="462063" cy="38290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3328CB26-D8AC-A07F-9919-98601FD9E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22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77461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FFE64-5880-C975-B142-996885EA1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Metrics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9EC649-6564-5990-BE50-52CCA4116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23</a:t>
            </a:fld>
            <a:endParaRPr lang="en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15ACB9-60F3-9208-7059-2D6E32145A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" t="38358"/>
          <a:stretch/>
        </p:blipFill>
        <p:spPr>
          <a:xfrm>
            <a:off x="5052362" y="1589146"/>
            <a:ext cx="7116475" cy="36797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BE27E7-740C-5DED-A682-334018D19774}"/>
              </a:ext>
            </a:extLst>
          </p:cNvPr>
          <p:cNvSpPr txBox="1"/>
          <p:nvPr/>
        </p:nvSpPr>
        <p:spPr>
          <a:xfrm>
            <a:off x="541176" y="2163121"/>
            <a:ext cx="3872204" cy="584775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BE" sz="3200"/>
              <a:t>Declaration Accuracy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91B1D1-3894-8394-DE3B-02EC8BEBF4E3}"/>
              </a:ext>
            </a:extLst>
          </p:cNvPr>
          <p:cNvSpPr txBox="1"/>
          <p:nvPr/>
        </p:nvSpPr>
        <p:spPr>
          <a:xfrm>
            <a:off x="541176" y="3495637"/>
            <a:ext cx="3872204" cy="584775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BE" sz="3200"/>
              <a:t>Model Accuracy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6A3389-D65F-75B2-C3AD-F983C639E79D}"/>
              </a:ext>
            </a:extLst>
          </p:cNvPr>
          <p:cNvSpPr txBox="1"/>
          <p:nvPr/>
        </p:nvSpPr>
        <p:spPr>
          <a:xfrm>
            <a:off x="541176" y="4828153"/>
            <a:ext cx="3872204" cy="584775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BE" sz="3200"/>
              <a:t>Solution Accuracy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88C83FA-E963-81A1-03C4-0F96C5021B57}"/>
              </a:ext>
            </a:extLst>
          </p:cNvPr>
          <p:cNvSpPr/>
          <p:nvPr/>
        </p:nvSpPr>
        <p:spPr>
          <a:xfrm>
            <a:off x="5270406" y="4071081"/>
            <a:ext cx="3071162" cy="251494"/>
          </a:xfrm>
          <a:prstGeom prst="round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3D5E948-CEF1-9346-9F45-AE5DE6706696}"/>
              </a:ext>
            </a:extLst>
          </p:cNvPr>
          <p:cNvSpPr/>
          <p:nvPr/>
        </p:nvSpPr>
        <p:spPr>
          <a:xfrm>
            <a:off x="4795935" y="2043405"/>
            <a:ext cx="7116475" cy="2344487"/>
          </a:xfrm>
          <a:prstGeom prst="round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00821E-FAE0-E837-B0D2-5809A1523DFB}"/>
              </a:ext>
            </a:extLst>
          </p:cNvPr>
          <p:cNvSpPr/>
          <p:nvPr/>
        </p:nvSpPr>
        <p:spPr>
          <a:xfrm>
            <a:off x="5270406" y="4885805"/>
            <a:ext cx="4666695" cy="469472"/>
          </a:xfrm>
          <a:prstGeom prst="round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58F7EC9-3D93-B0D0-0E6A-43CD7FB9223D}"/>
              </a:ext>
            </a:extLst>
          </p:cNvPr>
          <p:cNvSpPr/>
          <p:nvPr/>
        </p:nvSpPr>
        <p:spPr>
          <a:xfrm>
            <a:off x="6281223" y="3570631"/>
            <a:ext cx="4159732" cy="251494"/>
          </a:xfrm>
          <a:prstGeom prst="round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22BD1C-A89A-4731-CFB1-8165ED67F915}"/>
              </a:ext>
            </a:extLst>
          </p:cNvPr>
          <p:cNvSpPr txBox="1"/>
          <p:nvPr/>
        </p:nvSpPr>
        <p:spPr>
          <a:xfrm>
            <a:off x="541176" y="5990898"/>
            <a:ext cx="690465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762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#Errors: CP Model could not be run</a:t>
            </a:r>
            <a:endParaRPr lang="en-BE" sz="3200" dirty="0"/>
          </a:p>
        </p:txBody>
      </p:sp>
    </p:spTree>
    <p:extLst>
      <p:ext uri="{BB962C8B-B14F-4D97-AF65-F5344CB8AC3E}">
        <p14:creationId xmlns:p14="http://schemas.microsoft.com/office/powerpoint/2010/main" val="3169433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7" grpId="0" animBg="1"/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A27A8-5D83-84BD-383E-470C71F85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Experiments: Datasets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DE874-77D7-58B7-A45E-CC3BBF078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465" y="1825625"/>
            <a:ext cx="7520474" cy="2755706"/>
          </a:xfrm>
        </p:spPr>
        <p:txBody>
          <a:bodyPr>
            <a:normAutofit/>
          </a:bodyPr>
          <a:lstStyle/>
          <a:p>
            <a:r>
              <a:rPr lang="en-US" b="1" dirty="0"/>
              <a:t>NL4Opt</a:t>
            </a:r>
            <a:r>
              <a:rPr lang="en-US" b="1" baseline="30000" dirty="0"/>
              <a:t>1</a:t>
            </a:r>
            <a:r>
              <a:rPr lang="en-US" dirty="0"/>
              <a:t>: Linear Optimization Problems</a:t>
            </a:r>
          </a:p>
          <a:p>
            <a:r>
              <a:rPr lang="en-US" b="1" dirty="0"/>
              <a:t>LGPs</a:t>
            </a:r>
            <a:r>
              <a:rPr lang="en-US" b="1" baseline="30000" dirty="0"/>
              <a:t>2</a:t>
            </a:r>
            <a:r>
              <a:rPr lang="en-US" dirty="0"/>
              <a:t>: Logic Grid Puzzles described with clues and entities</a:t>
            </a:r>
          </a:p>
          <a:p>
            <a:r>
              <a:rPr lang="en-US" b="1" dirty="0"/>
              <a:t>Mixed (new)</a:t>
            </a:r>
            <a:r>
              <a:rPr lang="en-US" dirty="0"/>
              <a:t>: 18 diverse problems drawn from a CP Modelling course.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807BBC-C289-1344-8CE7-B33E080ECF9C}"/>
              </a:ext>
            </a:extLst>
          </p:cNvPr>
          <p:cNvSpPr txBox="1"/>
          <p:nvPr/>
        </p:nvSpPr>
        <p:spPr>
          <a:xfrm>
            <a:off x="0" y="5393094"/>
            <a:ext cx="103289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aseline="30000" dirty="0"/>
              <a:t>1</a:t>
            </a:r>
            <a:r>
              <a:rPr lang="en-BE" sz="1400" dirty="0"/>
              <a:t> Rindranirina Ramamonjison, Timothy Yu, Raymond Li, Haley Li, Giuseppe Carenini, Bissan</a:t>
            </a:r>
            <a:r>
              <a:rPr lang="en-US" sz="1400" dirty="0"/>
              <a:t> </a:t>
            </a:r>
            <a:r>
              <a:rPr lang="en-BE" sz="1400" dirty="0" err="1"/>
              <a:t>Ghaddar</a:t>
            </a:r>
            <a:r>
              <a:rPr lang="en-BE" sz="1400" dirty="0"/>
              <a:t>, </a:t>
            </a:r>
            <a:r>
              <a:rPr lang="en-BE" sz="1400" dirty="0" err="1"/>
              <a:t>Shiqi</a:t>
            </a:r>
            <a:r>
              <a:rPr lang="en-BE" sz="1400" dirty="0"/>
              <a:t> He, Mahdi </a:t>
            </a:r>
            <a:r>
              <a:rPr lang="en-BE" sz="1400" dirty="0" err="1"/>
              <a:t>Mostajabdaveh</a:t>
            </a:r>
            <a:r>
              <a:rPr lang="en-BE" sz="1400" dirty="0"/>
              <a:t>, Amin </a:t>
            </a:r>
            <a:r>
              <a:rPr lang="en-BE" sz="1400" dirty="0" err="1"/>
              <a:t>Banitalebi-Dehkordi</a:t>
            </a:r>
            <a:r>
              <a:rPr lang="en-BE" sz="1400" dirty="0"/>
              <a:t>, Zirui Zhou, et al.</a:t>
            </a:r>
            <a:r>
              <a:rPr lang="en-US" sz="1400" dirty="0"/>
              <a:t> </a:t>
            </a:r>
            <a:r>
              <a:rPr lang="en-BE" sz="1400" dirty="0"/>
              <a:t>Nl4opt competition: Formulating optimization problems based on their natural language</a:t>
            </a:r>
            <a:r>
              <a:rPr lang="en-US" sz="1400" dirty="0"/>
              <a:t> </a:t>
            </a:r>
            <a:r>
              <a:rPr lang="en-BE" sz="1400" dirty="0"/>
              <a:t>descriptions.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6175AE-CC98-88EA-E6A7-A3AA5021198F}"/>
              </a:ext>
            </a:extLst>
          </p:cNvPr>
          <p:cNvSpPr txBox="1"/>
          <p:nvPr/>
        </p:nvSpPr>
        <p:spPr>
          <a:xfrm>
            <a:off x="0" y="5916314"/>
            <a:ext cx="83909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E" sz="1400" baseline="30000" dirty="0"/>
              <a:t>2</a:t>
            </a:r>
            <a:r>
              <a:rPr lang="en-BE" sz="1400" dirty="0"/>
              <a:t> Arindam Mitra and Chitta Baral. Learning to automatically solve logic grid puzzles.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5E8C2-CCE3-52AF-63C2-236873CAA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24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9232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0159E-88A2-3825-786C-4D4756C93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LLMs as CP solvers? No.</a:t>
            </a:r>
            <a:br>
              <a:rPr lang="en-US" sz="4400" dirty="0"/>
            </a:br>
            <a:r>
              <a:rPr lang="en-US" sz="4400" dirty="0"/>
              <a:t>LLMs as CP modellers? </a:t>
            </a:r>
            <a:r>
              <a:rPr lang="en-US" sz="4400" dirty="0">
                <a:solidFill>
                  <a:schemeClr val="accent6">
                    <a:lumMod val="75000"/>
                  </a:schemeClr>
                </a:solidFill>
              </a:rPr>
              <a:t>Possible</a:t>
            </a:r>
            <a:r>
              <a:rPr lang="en-US" sz="4400" dirty="0"/>
              <a:t>.</a:t>
            </a:r>
            <a:endParaRPr lang="en-BE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47D1B33-EF0F-5D1B-2B32-2F4DBC045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308603"/>
              </p:ext>
            </p:extLst>
          </p:nvPr>
        </p:nvGraphicFramePr>
        <p:xfrm>
          <a:off x="2130537" y="2166543"/>
          <a:ext cx="8189120" cy="3526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4539">
                  <a:extLst>
                    <a:ext uri="{9D8B030D-6E8A-4147-A177-3AD203B41FA5}">
                      <a16:colId xmlns:a16="http://schemas.microsoft.com/office/drawing/2014/main" val="2001912261"/>
                    </a:ext>
                  </a:extLst>
                </a:gridCol>
                <a:gridCol w="3171885">
                  <a:extLst>
                    <a:ext uri="{9D8B030D-6E8A-4147-A177-3AD203B41FA5}">
                      <a16:colId xmlns:a16="http://schemas.microsoft.com/office/drawing/2014/main" val="1804751401"/>
                    </a:ext>
                  </a:extLst>
                </a:gridCol>
                <a:gridCol w="2422696">
                  <a:extLst>
                    <a:ext uri="{9D8B030D-6E8A-4147-A177-3AD203B41FA5}">
                      <a16:colId xmlns:a16="http://schemas.microsoft.com/office/drawing/2014/main" val="1497758152"/>
                    </a:ext>
                  </a:extLst>
                </a:gridCol>
              </a:tblGrid>
              <a:tr h="78298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Accuracy 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544951"/>
                  </a:ext>
                </a:extLst>
              </a:tr>
              <a:tr h="450219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/>
                        <a:t>NL4Opt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CoT</a:t>
                      </a:r>
                      <a:r>
                        <a:rPr lang="en-US" sz="2400" dirty="0"/>
                        <a:t> Solving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11.46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626115"/>
                  </a:ext>
                </a:extLst>
              </a:tr>
              <a:tr h="4502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CP Modelling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81.31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0644861"/>
                  </a:ext>
                </a:extLst>
              </a:tr>
              <a:tr h="450219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/>
                        <a:t>LGPs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 err="1"/>
                        <a:t>CoT</a:t>
                      </a:r>
                      <a:r>
                        <a:rPr lang="en-US" sz="2400" dirty="0"/>
                        <a:t> Solving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/>
                        <a:t>9.36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609359"/>
                  </a:ext>
                </a:extLst>
              </a:tr>
              <a:tr h="4502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/>
                        <a:t>CP Modelling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/>
                        <a:t>57.00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2630367"/>
                  </a:ext>
                </a:extLst>
              </a:tr>
              <a:tr h="450219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/>
                        <a:t>Mixed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CoT</a:t>
                      </a:r>
                      <a:r>
                        <a:rPr lang="en-US" sz="2400" dirty="0"/>
                        <a:t> Solving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/>
                        <a:t>16.67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256617"/>
                  </a:ext>
                </a:extLst>
              </a:tr>
              <a:tr h="450219">
                <a:tc v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CP Modelling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/>
                        <a:t>50.00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98445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4068398-14D5-C329-54E2-63861ADC233C}"/>
              </a:ext>
            </a:extLst>
          </p:cNvPr>
          <p:cNvSpPr txBox="1"/>
          <p:nvPr/>
        </p:nvSpPr>
        <p:spPr>
          <a:xfrm>
            <a:off x="2130537" y="5824486"/>
            <a:ext cx="704979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Static 4-shot ICL, with gpt-3.5-turbo-0125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F294A-2323-D511-EE07-376B46B74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25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28058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EB9B8-B952-A53F-5609-A0F674E42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Intermediate </a:t>
            </a:r>
            <a:br>
              <a:rPr lang="en-US" dirty="0"/>
            </a:br>
            <a:r>
              <a:rPr lang="en-US" dirty="0"/>
              <a:t>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FBD57-13FC-F732-7ADC-243A360A2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1" y="2419608"/>
            <a:ext cx="5486136" cy="32720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1. Beneficial in small linear </a:t>
            </a:r>
            <a:br>
              <a:rPr lang="en-US" dirty="0"/>
            </a:br>
            <a:r>
              <a:rPr lang="en-US" dirty="0"/>
              <a:t>problems (NL4Opt)</a:t>
            </a:r>
          </a:p>
          <a:p>
            <a:pPr marL="0" indent="0">
              <a:buNone/>
            </a:pPr>
            <a:r>
              <a:rPr lang="en-US" dirty="0"/>
              <a:t>2. For more complex problems</a:t>
            </a:r>
            <a:br>
              <a:rPr lang="en-US" dirty="0"/>
            </a:br>
            <a:r>
              <a:rPr lang="en-US" dirty="0"/>
              <a:t>mixed results,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noise</a:t>
            </a:r>
            <a:r>
              <a:rPr lang="en-US" dirty="0"/>
              <a:t> in the context:</a:t>
            </a:r>
          </a:p>
          <a:p>
            <a:pPr>
              <a:buFont typeface="Courier New" panose="020B0604020202020204" pitchFamily="34" charset="0"/>
              <a:buChar char="o"/>
            </a:pPr>
            <a:r>
              <a:rPr lang="en-US" dirty="0"/>
              <a:t>NER: Misclassification of variables.</a:t>
            </a:r>
          </a:p>
          <a:p>
            <a:pPr>
              <a:buFont typeface="Courier New" panose="020B0604020202020204" pitchFamily="34" charset="0"/>
              <a:buChar char="o"/>
            </a:pPr>
            <a:r>
              <a:rPr lang="en-US" dirty="0"/>
              <a:t>BM: Larger context, possible to generate errors.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7099F34-030A-E653-FDD9-280117353C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491365"/>
              </p:ext>
            </p:extLst>
          </p:nvPr>
        </p:nvGraphicFramePr>
        <p:xfrm>
          <a:off x="5542384" y="376303"/>
          <a:ext cx="6430916" cy="26761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1053">
                  <a:extLst>
                    <a:ext uri="{9D8B030D-6E8A-4147-A177-3AD203B41FA5}">
                      <a16:colId xmlns:a16="http://schemas.microsoft.com/office/drawing/2014/main" val="3193540355"/>
                    </a:ext>
                  </a:extLst>
                </a:gridCol>
                <a:gridCol w="1054359">
                  <a:extLst>
                    <a:ext uri="{9D8B030D-6E8A-4147-A177-3AD203B41FA5}">
                      <a16:colId xmlns:a16="http://schemas.microsoft.com/office/drawing/2014/main" val="928916533"/>
                    </a:ext>
                  </a:extLst>
                </a:gridCol>
                <a:gridCol w="670615">
                  <a:extLst>
                    <a:ext uri="{9D8B030D-6E8A-4147-A177-3AD203B41FA5}">
                      <a16:colId xmlns:a16="http://schemas.microsoft.com/office/drawing/2014/main" val="1961531569"/>
                    </a:ext>
                  </a:extLst>
                </a:gridCol>
                <a:gridCol w="1209887">
                  <a:extLst>
                    <a:ext uri="{9D8B030D-6E8A-4147-A177-3AD203B41FA5}">
                      <a16:colId xmlns:a16="http://schemas.microsoft.com/office/drawing/2014/main" val="3469501539"/>
                    </a:ext>
                  </a:extLst>
                </a:gridCol>
                <a:gridCol w="1200285">
                  <a:extLst>
                    <a:ext uri="{9D8B030D-6E8A-4147-A177-3AD203B41FA5}">
                      <a16:colId xmlns:a16="http://schemas.microsoft.com/office/drawing/2014/main" val="2971752741"/>
                    </a:ext>
                  </a:extLst>
                </a:gridCol>
                <a:gridCol w="1334717">
                  <a:extLst>
                    <a:ext uri="{9D8B030D-6E8A-4147-A177-3AD203B41FA5}">
                      <a16:colId xmlns:a16="http://schemas.microsoft.com/office/drawing/2014/main" val="2549865300"/>
                    </a:ext>
                  </a:extLst>
                </a:gridCol>
              </a:tblGrid>
              <a:tr h="4722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#Err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Sol.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Decl. 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Model 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993627"/>
                  </a:ext>
                </a:extLst>
              </a:tr>
              <a:tr h="367311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NL4Opt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81.31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87.81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79.24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7756713"/>
                  </a:ext>
                </a:extLst>
              </a:tr>
              <a:tr h="367311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+ 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84.43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89.93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82.01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931719"/>
                  </a:ext>
                </a:extLst>
              </a:tr>
              <a:tr h="367311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+ 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85.47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88.60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80.62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8890938"/>
                  </a:ext>
                </a:extLst>
              </a:tr>
              <a:tr h="367311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LGPs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57.00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80.45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55.00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0669558"/>
                  </a:ext>
                </a:extLst>
              </a:tr>
              <a:tr h="367311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+ 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58.00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70.69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58.00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881184"/>
                  </a:ext>
                </a:extLst>
              </a:tr>
              <a:tr h="367311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+ NER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54.00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67.77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50.00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29560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222F239-2721-3C88-5246-4871335E7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809583"/>
              </p:ext>
            </p:extLst>
          </p:nvPr>
        </p:nvGraphicFramePr>
        <p:xfrm>
          <a:off x="6216302" y="3805575"/>
          <a:ext cx="5486136" cy="1842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304">
                  <a:extLst>
                    <a:ext uri="{9D8B030D-6E8A-4147-A177-3AD203B41FA5}">
                      <a16:colId xmlns:a16="http://schemas.microsoft.com/office/drawing/2014/main" val="4292538848"/>
                    </a:ext>
                  </a:extLst>
                </a:gridCol>
                <a:gridCol w="1022582">
                  <a:extLst>
                    <a:ext uri="{9D8B030D-6E8A-4147-A177-3AD203B41FA5}">
                      <a16:colId xmlns:a16="http://schemas.microsoft.com/office/drawing/2014/main" val="1751292730"/>
                    </a:ext>
                  </a:extLst>
                </a:gridCol>
                <a:gridCol w="1352939">
                  <a:extLst>
                    <a:ext uri="{9D8B030D-6E8A-4147-A177-3AD203B41FA5}">
                      <a16:colId xmlns:a16="http://schemas.microsoft.com/office/drawing/2014/main" val="1925185913"/>
                    </a:ext>
                  </a:extLst>
                </a:gridCol>
                <a:gridCol w="1849311">
                  <a:extLst>
                    <a:ext uri="{9D8B030D-6E8A-4147-A177-3AD203B41FA5}">
                      <a16:colId xmlns:a16="http://schemas.microsoft.com/office/drawing/2014/main" val="3871233208"/>
                    </a:ext>
                  </a:extLst>
                </a:gridCol>
              </a:tblGrid>
              <a:tr h="3798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Dataset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#Shots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CP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+ BM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160869717"/>
                  </a:ext>
                </a:extLst>
              </a:tr>
              <a:tr h="344579">
                <a:tc rowSpan="4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Mixed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800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800" dirty="0">
                          <a:effectLst/>
                        </a:rPr>
                        <a:t>33.33%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800" dirty="0">
                          <a:effectLst/>
                        </a:rPr>
                        <a:t>16.67%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619157"/>
                  </a:ext>
                </a:extLst>
              </a:tr>
              <a:tr h="3445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800" dirty="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800" dirty="0">
                          <a:effectLst/>
                        </a:rPr>
                        <a:t>50.00%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800" dirty="0">
                          <a:effectLst/>
                        </a:rPr>
                        <a:t>50.00%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312951"/>
                  </a:ext>
                </a:extLst>
              </a:tr>
              <a:tr h="3445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800" dirty="0">
                          <a:effectLst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800" dirty="0">
                          <a:effectLst/>
                        </a:rPr>
                        <a:t>50.00%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800" dirty="0">
                          <a:effectLst/>
                        </a:rPr>
                        <a:t>44.44%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519031"/>
                  </a:ext>
                </a:extLst>
              </a:tr>
              <a:tr h="3445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800" dirty="0">
                          <a:effectLst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800" dirty="0">
                          <a:effectLst/>
                        </a:rPr>
                        <a:t>55.56%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800" dirty="0">
                          <a:effectLst/>
                        </a:rPr>
                        <a:t>50.00%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8809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E92E063-1E9E-6D47-EC9B-143394622A90}"/>
              </a:ext>
            </a:extLst>
          </p:cNvPr>
          <p:cNvSpPr txBox="1"/>
          <p:nvPr/>
        </p:nvSpPr>
        <p:spPr>
          <a:xfrm>
            <a:off x="8610600" y="136525"/>
            <a:ext cx="3581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E" sz="1200" dirty="0"/>
              <a:t>Configuration: gpt-3.5-turbo-0125, 4-shot static ICL.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6EACF5-1580-07CB-2BCA-D49CE9B66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26</a:t>
            </a:fld>
            <a:endParaRPr lang="en-B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10798D-1A0A-5B82-B860-E12BE2993BC6}"/>
              </a:ext>
            </a:extLst>
          </p:cNvPr>
          <p:cNvSpPr txBox="1"/>
          <p:nvPr/>
        </p:nvSpPr>
        <p:spPr>
          <a:xfrm>
            <a:off x="7576457" y="5633420"/>
            <a:ext cx="42006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E" sz="1200" dirty="0"/>
              <a:t>Configuration: gpt-3.5-turbo-0125, static ICL, Solution Accuracy.</a:t>
            </a:r>
          </a:p>
        </p:txBody>
      </p:sp>
    </p:spTree>
    <p:extLst>
      <p:ext uri="{BB962C8B-B14F-4D97-AF65-F5344CB8AC3E}">
        <p14:creationId xmlns:p14="http://schemas.microsoft.com/office/powerpoint/2010/main" val="376593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09EF0-1FCD-E3F2-A7D8-9DC409B6A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Retrieval-Augmented ICL? Yes.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7CCE5-59C1-9D33-975B-71548A12D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266" y="2311544"/>
            <a:ext cx="4693298" cy="2969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Context </a:t>
            </a:r>
            <a:r>
              <a:rPr lang="en-US" sz="3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relevance</a:t>
            </a:r>
            <a:r>
              <a:rPr lang="en-US" sz="3200" dirty="0"/>
              <a:t> and </a:t>
            </a:r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diversity</a:t>
            </a:r>
            <a:r>
              <a:rPr lang="en-US" sz="3200" dirty="0"/>
              <a:t> improve accuracy.</a:t>
            </a:r>
          </a:p>
          <a:p>
            <a:r>
              <a:rPr lang="en-US" sz="3200" dirty="0"/>
              <a:t>Recency effect is influential.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6AC3D35-9DA1-89B8-C033-17D5E0290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30368"/>
              </p:ext>
            </p:extLst>
          </p:nvPr>
        </p:nvGraphicFramePr>
        <p:xfrm>
          <a:off x="4531566" y="1811346"/>
          <a:ext cx="7427168" cy="35329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27116">
                  <a:extLst>
                    <a:ext uri="{9D8B030D-6E8A-4147-A177-3AD203B41FA5}">
                      <a16:colId xmlns:a16="http://schemas.microsoft.com/office/drawing/2014/main" val="509737057"/>
                    </a:ext>
                  </a:extLst>
                </a:gridCol>
                <a:gridCol w="1035012">
                  <a:extLst>
                    <a:ext uri="{9D8B030D-6E8A-4147-A177-3AD203B41FA5}">
                      <a16:colId xmlns:a16="http://schemas.microsoft.com/office/drawing/2014/main" val="1175167118"/>
                    </a:ext>
                  </a:extLst>
                </a:gridCol>
                <a:gridCol w="1217097">
                  <a:extLst>
                    <a:ext uri="{9D8B030D-6E8A-4147-A177-3AD203B41FA5}">
                      <a16:colId xmlns:a16="http://schemas.microsoft.com/office/drawing/2014/main" val="1770427640"/>
                    </a:ext>
                  </a:extLst>
                </a:gridCol>
                <a:gridCol w="1170700">
                  <a:extLst>
                    <a:ext uri="{9D8B030D-6E8A-4147-A177-3AD203B41FA5}">
                      <a16:colId xmlns:a16="http://schemas.microsoft.com/office/drawing/2014/main" val="1526397305"/>
                    </a:ext>
                  </a:extLst>
                </a:gridCol>
                <a:gridCol w="1177243">
                  <a:extLst>
                    <a:ext uri="{9D8B030D-6E8A-4147-A177-3AD203B41FA5}">
                      <a16:colId xmlns:a16="http://schemas.microsoft.com/office/drawing/2014/main" val="47289144"/>
                    </a:ext>
                  </a:extLst>
                </a:gridCol>
              </a:tblGrid>
              <a:tr h="4276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Retrieval</a:t>
                      </a:r>
                      <a:endParaRPr lang="en-B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LGPs Sol. (%)</a:t>
                      </a:r>
                      <a:endParaRPr lang="en-B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LGPs Decl. (%)</a:t>
                      </a:r>
                      <a:endParaRPr lang="en-B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E" sz="1800" dirty="0"/>
                        <a:t>NL4Opt Sol.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E" sz="1800" dirty="0"/>
                        <a:t>NL4Opt Decl. 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4765451"/>
                  </a:ext>
                </a:extLst>
              </a:tr>
              <a:tr h="41327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Static</a:t>
                      </a:r>
                      <a:endParaRPr lang="en-B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57.00</a:t>
                      </a:r>
                      <a:endParaRPr lang="en-B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80.45</a:t>
                      </a:r>
                      <a:endParaRPr lang="en-B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E" sz="1800" dirty="0"/>
                        <a:t>81.31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E" sz="1800" dirty="0"/>
                        <a:t>87.81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980735"/>
                  </a:ext>
                </a:extLst>
              </a:tr>
              <a:tr h="41327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Random</a:t>
                      </a:r>
                      <a:endParaRPr lang="en-B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66.00</a:t>
                      </a:r>
                      <a:endParaRPr lang="en-B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76.75</a:t>
                      </a:r>
                      <a:endParaRPr lang="en-B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E" sz="1800" dirty="0"/>
                        <a:t>77.16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E" sz="1800" dirty="0"/>
                        <a:t>85.60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373923"/>
                  </a:ext>
                </a:extLst>
              </a:tr>
              <a:tr h="41327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Similarity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68.00</a:t>
                      </a:r>
                      <a:endParaRPr lang="en-B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85.34</a:t>
                      </a:r>
                      <a:endParaRPr lang="en-B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E" sz="1800" dirty="0"/>
                        <a:t>85.12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E" sz="1800" dirty="0"/>
                        <a:t>87.72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66400"/>
                  </a:ext>
                </a:extLst>
              </a:tr>
              <a:tr h="41327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R-Similarity</a:t>
                      </a:r>
                      <a:endParaRPr lang="en-B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72.00</a:t>
                      </a:r>
                      <a:endParaRPr lang="en-B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89.83</a:t>
                      </a:r>
                      <a:endParaRPr lang="en-B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E" sz="1800" dirty="0"/>
                        <a:t>83.39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E" sz="1800" dirty="0"/>
                        <a:t>88.16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803063"/>
                  </a:ext>
                </a:extLst>
              </a:tr>
              <a:tr h="41327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Diversity</a:t>
                      </a:r>
                      <a:endParaRPr lang="en-B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66.00</a:t>
                      </a:r>
                      <a:endParaRPr lang="en-B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83.09</a:t>
                      </a:r>
                      <a:endParaRPr lang="en-B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E" sz="1800" dirty="0"/>
                        <a:t>84.08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E" sz="1800" dirty="0"/>
                        <a:t>87.99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485901"/>
                  </a:ext>
                </a:extLst>
              </a:tr>
              <a:tr h="41327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R-Diversity</a:t>
                      </a:r>
                      <a:endParaRPr lang="en-B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74.00</a:t>
                      </a:r>
                      <a:endParaRPr lang="en-B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87.98</a:t>
                      </a:r>
                      <a:endParaRPr lang="en-B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E" sz="1800" dirty="0"/>
                        <a:t>83.74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E" sz="1800" dirty="0"/>
                        <a:t>87.10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3809940"/>
                  </a:ext>
                </a:extLst>
              </a:tr>
              <a:tr h="41327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Random w/ Last-Similar</a:t>
                      </a:r>
                      <a:endParaRPr lang="en-B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76.00</a:t>
                      </a:r>
                      <a:endParaRPr lang="en-BE" sz="180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89.96</a:t>
                      </a:r>
                      <a:endParaRPr lang="en-BE" sz="1800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E" sz="1800" dirty="0"/>
                        <a:t>83.74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E" sz="1800" dirty="0"/>
                        <a:t>88.34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98119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DBDA12A-B9B2-FDEC-E4B5-62B981EAA1C2}"/>
              </a:ext>
            </a:extLst>
          </p:cNvPr>
          <p:cNvSpPr txBox="1"/>
          <p:nvPr/>
        </p:nvSpPr>
        <p:spPr>
          <a:xfrm>
            <a:off x="6889104" y="5362985"/>
            <a:ext cx="50447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CP modelling. </a:t>
            </a:r>
            <a:r>
              <a:rPr lang="en-BE" sz="1600" dirty="0"/>
              <a:t>Config: gpt-3.5-turbo-0125</a:t>
            </a:r>
            <a:r>
              <a:rPr lang="en-US" sz="1600" dirty="0"/>
              <a:t>,</a:t>
            </a:r>
            <a:r>
              <a:rPr lang="en-BE" sz="1600" dirty="0"/>
              <a:t> R-MMR λ = 0.5.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48FED-DE8F-E9FE-3E11-45AF65993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27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9050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09EF0-1FCD-E3F2-A7D8-9DC409B6A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The more examples the better?</a:t>
            </a:r>
            <a:br>
              <a:rPr lang="en-US" dirty="0">
                <a:ea typeface="+mj-lt"/>
                <a:cs typeface="+mj-lt"/>
              </a:rPr>
            </a:br>
            <a:r>
              <a:rPr lang="en-US" dirty="0">
                <a:ea typeface="+mj-lt"/>
                <a:cs typeface="+mj-lt"/>
              </a:rPr>
              <a:t>Not exactly.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7CCE5-59C1-9D33-975B-71548A12D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772" y="5299109"/>
            <a:ext cx="10927701" cy="116938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3">
                    <a:lumMod val="75000"/>
                  </a:schemeClr>
                </a:solidFill>
              </a:rPr>
              <a:t>Adding in-context examples improves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up to a threshold.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BE63E8-2467-C7AC-AEF3-DAB0F168E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49434"/>
            <a:ext cx="5342223" cy="36109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E1CEC7-02E4-D3D7-E4B7-24A0806C7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623" y="1556365"/>
            <a:ext cx="5416421" cy="36109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DE462C-9F57-9FF0-4862-054D5357DD66}"/>
              </a:ext>
            </a:extLst>
          </p:cNvPr>
          <p:cNvSpPr txBox="1"/>
          <p:nvPr/>
        </p:nvSpPr>
        <p:spPr>
          <a:xfrm>
            <a:off x="7646314" y="1690688"/>
            <a:ext cx="3063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E" sz="1200" dirty="0"/>
              <a:t>Config: gpt-3.5-turbo-0125</a:t>
            </a:r>
            <a:r>
              <a:rPr lang="en-US" sz="1200" dirty="0"/>
              <a:t>,</a:t>
            </a:r>
            <a:r>
              <a:rPr lang="en-BE" sz="1200" dirty="0"/>
              <a:t> R-MMR (λ = 0.5)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48FED-DE8F-E9FE-3E11-45AF65993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28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85614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03931-BC19-5F65-2C94-F54FB69F7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more diverse problems?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C186F-A9D8-2525-3C71-01D753509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32" y="1690688"/>
            <a:ext cx="5511434" cy="20655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u="sng" dirty="0"/>
              <a:t>Small Dataset:</a:t>
            </a:r>
            <a:r>
              <a:rPr lang="en-US" sz="3200" dirty="0"/>
              <a:t> Few examples to retrieve from.</a:t>
            </a:r>
          </a:p>
          <a:p>
            <a:r>
              <a:rPr lang="en-US" sz="3200" dirty="0"/>
              <a:t>More complex problems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harder</a:t>
            </a:r>
            <a:r>
              <a:rPr lang="en-US" sz="3200" dirty="0"/>
              <a:t> for LLMs as well.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C500DE-01D6-EFFA-A784-BABD14722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021" y="1483509"/>
            <a:ext cx="5496006" cy="3284434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20C195D-9408-B53B-5878-85CAB821438E}"/>
              </a:ext>
            </a:extLst>
          </p:cNvPr>
          <p:cNvSpPr txBox="1">
            <a:spLocks/>
          </p:cNvSpPr>
          <p:nvPr/>
        </p:nvSpPr>
        <p:spPr>
          <a:xfrm>
            <a:off x="303096" y="4290826"/>
            <a:ext cx="10828324" cy="24135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Evaluation challenges:</a:t>
            </a:r>
          </a:p>
          <a:p>
            <a:pPr marL="457200" lvl="1" indent="0">
              <a:buNone/>
            </a:pPr>
            <a:r>
              <a:rPr lang="en-US" sz="2800" u="sng" dirty="0"/>
              <a:t>Problem</a:t>
            </a:r>
            <a:r>
              <a:rPr lang="en-US" sz="2800" dirty="0"/>
              <a:t>: Choice of Decision Variables is free =&gt; </a:t>
            </a:r>
            <a:r>
              <a:rPr lang="en-US" sz="2800" strike="sngStrike" dirty="0"/>
              <a:t>Model Accuracy.</a:t>
            </a:r>
          </a:p>
          <a:p>
            <a:pPr marL="457200" lvl="1" indent="0">
              <a:buNone/>
            </a:pPr>
            <a:r>
              <a:rPr lang="en-US" sz="2800" u="sng" dirty="0"/>
              <a:t>LIGHTBULB</a:t>
            </a:r>
            <a:r>
              <a:rPr lang="en-US" sz="2800" dirty="0"/>
              <a:t> Prompt LLMs to generate code that prints the solution in specific format =&gt; </a:t>
            </a:r>
            <a:r>
              <a:rPr lang="en-US" sz="2800" b="1" dirty="0"/>
              <a:t>Solution Accuracy</a:t>
            </a:r>
            <a:r>
              <a:rPr lang="en-US" sz="2800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FEDA89-1E9A-C62D-FA85-59050A2DA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29</a:t>
            </a:fld>
            <a:endParaRPr lang="en-B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A6A32F-56EF-1CBF-387E-DCF798C9F699}"/>
              </a:ext>
            </a:extLst>
          </p:cNvPr>
          <p:cNvSpPr txBox="1"/>
          <p:nvPr/>
        </p:nvSpPr>
        <p:spPr>
          <a:xfrm>
            <a:off x="8459631" y="1422239"/>
            <a:ext cx="31788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E" sz="1200" dirty="0"/>
              <a:t>Config: gpt-3.5-turbo-0125</a:t>
            </a:r>
            <a:r>
              <a:rPr lang="en-US" sz="1200" dirty="0"/>
              <a:t>,</a:t>
            </a:r>
            <a:r>
              <a:rPr lang="en-BE" sz="1200" dirty="0"/>
              <a:t> R-SIM, 12-shot ICL.</a:t>
            </a:r>
          </a:p>
        </p:txBody>
      </p:sp>
    </p:spTree>
    <p:extLst>
      <p:ext uri="{BB962C8B-B14F-4D97-AF65-F5344CB8AC3E}">
        <p14:creationId xmlns:p14="http://schemas.microsoft.com/office/powerpoint/2010/main" val="2703372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A8921-6852-7DEC-85E6-158C1EFAD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Key Conclusions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0728E-6EC6-812B-A4BC-CAE4A414A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30</a:t>
            </a:fld>
            <a:endParaRPr lang="en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4AE4E2-05D2-1D05-67F6-81847A42B125}"/>
              </a:ext>
            </a:extLst>
          </p:cNvPr>
          <p:cNvSpPr txBox="1"/>
          <p:nvPr/>
        </p:nvSpPr>
        <p:spPr>
          <a:xfrm>
            <a:off x="3228900" y="1892653"/>
            <a:ext cx="66148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Gill Sans Nova" panose="020B0602020104020203" pitchFamily="34" charset="0"/>
              </a:rPr>
              <a:t>LLMs as CP solvers? No</a:t>
            </a:r>
            <a:br>
              <a:rPr lang="en-US" sz="3200" dirty="0">
                <a:solidFill>
                  <a:srgbClr val="002060"/>
                </a:solidFill>
                <a:latin typeface="Gill Sans Nova" panose="020B0602020104020203" pitchFamily="34" charset="0"/>
              </a:rPr>
            </a:br>
            <a:r>
              <a:rPr lang="en-US" sz="3200" dirty="0">
                <a:solidFill>
                  <a:srgbClr val="002060"/>
                </a:solidFill>
                <a:latin typeface="Gill Sans Nova" panose="020B0602020104020203" pitchFamily="34" charset="0"/>
              </a:rPr>
              <a:t>LLMs as CP modellers?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Gill Sans Nova" panose="020B0602020104020203" pitchFamily="34" charset="0"/>
              </a:rPr>
              <a:t>Possible</a:t>
            </a:r>
            <a:r>
              <a:rPr lang="en-US" sz="3200" dirty="0">
                <a:solidFill>
                  <a:srgbClr val="002060"/>
                </a:solidFill>
                <a:latin typeface="Gill Sans Nova" panose="020B0602020104020203" pitchFamily="34" charset="0"/>
              </a:rPr>
              <a:t> </a:t>
            </a:r>
            <a:endParaRPr lang="en-BE" sz="3200" dirty="0">
              <a:solidFill>
                <a:srgbClr val="002060"/>
              </a:solidFill>
              <a:latin typeface="Gill Sans Nova" panose="020B06020201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00D69-0885-E1FE-610D-AE109DE0F8F3}"/>
              </a:ext>
            </a:extLst>
          </p:cNvPr>
          <p:cNvSpPr txBox="1"/>
          <p:nvPr/>
        </p:nvSpPr>
        <p:spPr>
          <a:xfrm>
            <a:off x="3228900" y="3181467"/>
            <a:ext cx="66148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Gill Sans Nova" panose="020B0602020104020203" pitchFamily="34" charset="0"/>
              </a:rPr>
              <a:t>Retrieval-Augmented In-Context Learning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Gill Sans Nova" panose="020B0602020104020203" pitchFamily="34" charset="0"/>
              </a:rPr>
              <a:t>improves</a:t>
            </a:r>
            <a:r>
              <a:rPr lang="en-US" sz="3200" dirty="0">
                <a:solidFill>
                  <a:srgbClr val="002060"/>
                </a:solidFill>
                <a:latin typeface="Gill Sans Nova" panose="020B0602020104020203" pitchFamily="34" charset="0"/>
              </a:rPr>
              <a:t> performance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B5C00-992B-68EE-07C3-662CDDAA53E7}"/>
              </a:ext>
            </a:extLst>
          </p:cNvPr>
          <p:cNvSpPr txBox="1"/>
          <p:nvPr/>
        </p:nvSpPr>
        <p:spPr>
          <a:xfrm>
            <a:off x="3228900" y="4476507"/>
            <a:ext cx="61223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Gill Sans Nova" panose="020B0602020104020203" pitchFamily="34" charset="0"/>
              </a:rPr>
              <a:t>Modelling more complex problems still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Gill Sans Nova" panose="020B0602020104020203" pitchFamily="34" charset="0"/>
              </a:rPr>
              <a:t>challenging</a:t>
            </a:r>
            <a:endParaRPr lang="en-BE" sz="3200" dirty="0">
              <a:solidFill>
                <a:schemeClr val="accent2">
                  <a:lumMod val="75000"/>
                </a:schemeClr>
              </a:solidFill>
              <a:latin typeface="Gill Sans Nova" panose="020B0602020104020203" pitchFamily="34" charset="0"/>
            </a:endParaRPr>
          </a:p>
        </p:txBody>
      </p:sp>
      <p:pic>
        <p:nvPicPr>
          <p:cNvPr id="8" name="Graphic 7" descr="Database with solid fill">
            <a:extLst>
              <a:ext uri="{FF2B5EF4-FFF2-40B4-BE49-F238E27FC236}">
                <a16:creationId xmlns:a16="http://schemas.microsoft.com/office/drawing/2014/main" id="{0319B0D7-14B6-E85A-7C4A-997D3FF88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0225" y="3259968"/>
            <a:ext cx="920216" cy="920216"/>
          </a:xfrm>
          <a:prstGeom prst="rect">
            <a:avLst/>
          </a:prstGeom>
        </p:spPr>
      </p:pic>
      <p:pic>
        <p:nvPicPr>
          <p:cNvPr id="9" name="Graphic 8" descr="Exclamation mark with solid fill">
            <a:extLst>
              <a:ext uri="{FF2B5EF4-FFF2-40B4-BE49-F238E27FC236}">
                <a16:creationId xmlns:a16="http://schemas.microsoft.com/office/drawing/2014/main" id="{845A38A2-4DE2-87EE-1565-F20627418D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0360" y="4551695"/>
            <a:ext cx="920216" cy="920216"/>
          </a:xfrm>
          <a:prstGeom prst="rect">
            <a:avLst/>
          </a:prstGeom>
        </p:spPr>
      </p:pic>
      <p:pic>
        <p:nvPicPr>
          <p:cNvPr id="10" name="Graphic 9" descr="Robot with solid fill">
            <a:extLst>
              <a:ext uri="{FF2B5EF4-FFF2-40B4-BE49-F238E27FC236}">
                <a16:creationId xmlns:a16="http://schemas.microsoft.com/office/drawing/2014/main" id="{7F671974-9F73-A7FB-9392-E23918EBDD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40225" y="1968241"/>
            <a:ext cx="920216" cy="92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29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20F3F-B28E-2316-F505-9C5DFD1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Future</a:t>
            </a:r>
            <a:r>
              <a:rPr lang="en-GB" dirty="0"/>
              <a:t>/Current</a:t>
            </a:r>
            <a:r>
              <a:rPr lang="en-BE" dirty="0"/>
              <a:t> 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BA840-106A-1393-7B49-2FDB771C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2281-D826-45A5-9E06-A1209B7AE909}" type="slidenum">
              <a:rPr lang="en-BE" smtClean="0"/>
              <a:t>31</a:t>
            </a:fld>
            <a:endParaRPr lang="en-BE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6EB1DEB-E00A-DB29-10BC-BD7DCCE5C1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1014"/>
              </p:ext>
            </p:extLst>
          </p:nvPr>
        </p:nvGraphicFramePr>
        <p:xfrm>
          <a:off x="2413000" y="1630680"/>
          <a:ext cx="6944360" cy="4543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18674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98088-030F-A6C8-26C9-403B32C1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CCDD4-9560-067E-00C6-081EA4C0DA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3227" y="2906280"/>
            <a:ext cx="4544291" cy="5227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hlinkClick r:id="rId2"/>
              </a:rPr>
              <a:t>https://</a:t>
            </a:r>
            <a:r>
              <a:rPr lang="en-GB" dirty="0" err="1">
                <a:hlinkClick r:id="rId2"/>
              </a:rPr>
              <a:t>chatopt.cs.kuleuven.be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2E7CD-ED6B-B150-21E7-EBCA8BDAC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87154" y="6492875"/>
            <a:ext cx="1804846" cy="365125"/>
          </a:xfrm>
        </p:spPr>
        <p:txBody>
          <a:bodyPr/>
          <a:lstStyle/>
          <a:p>
            <a:fld id="{DBAA2281-D826-45A5-9E06-A1209B7AE909}" type="slidenum">
              <a:rPr lang="en-BE" smtClean="0"/>
              <a:t>32</a:t>
            </a:fld>
            <a:endParaRPr lang="en-B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5A33D1-1E41-7807-7BBE-F8ABFFCAA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490" y="1301171"/>
            <a:ext cx="4028209" cy="402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47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66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B725878-D9B0-4851-A6C6-0348B720B44C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498de74-923b-4d23-a6b1-a46f8976d33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A221F6F8C150469551C2E5C407A4CB" ma:contentTypeVersion="9" ma:contentTypeDescription="Create a new document." ma:contentTypeScope="" ma:versionID="f8576eeb051fcb9f612d08e788793566">
  <xsd:schema xmlns:xsd="http://www.w3.org/2001/XMLSchema" xmlns:xs="http://www.w3.org/2001/XMLSchema" xmlns:p="http://schemas.microsoft.com/office/2006/metadata/properties" xmlns:ns3="7498de74-923b-4d23-a6b1-a46f8976d338" xmlns:ns4="7e52559d-7300-440f-8efe-6b9ee5e4267a" targetNamespace="http://schemas.microsoft.com/office/2006/metadata/properties" ma:root="true" ma:fieldsID="703068f6ee7f5e4302987f9e4d0428fe" ns3:_="" ns4:_="">
    <xsd:import namespace="7498de74-923b-4d23-a6b1-a46f8976d338"/>
    <xsd:import namespace="7e52559d-7300-440f-8efe-6b9ee5e4267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98de74-923b-4d23-a6b1-a46f8976d3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52559d-7300-440f-8efe-6b9ee5e4267a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38215E-B585-4B38-AE4A-048145899E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BB3B02-775E-4E76-BDB1-DA6912ED6CEC}">
  <ds:schemaRefs>
    <ds:schemaRef ds:uri="http://schemas.microsoft.com/office/infopath/2007/PartnerControls"/>
    <ds:schemaRef ds:uri="http://purl.org/dc/terms/"/>
    <ds:schemaRef ds:uri="7498de74-923b-4d23-a6b1-a46f8976d338"/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7e52559d-7300-440f-8efe-6b9ee5e4267a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102B0218-3376-448B-B688-464DA7B3B6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98de74-923b-4d23-a6b1-a46f8976d338"/>
    <ds:schemaRef ds:uri="7e52559d-7300-440f-8efe-6b9ee5e4267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8243_PPTX_CORP_16x9_UK</Template>
  <TotalTime>15094</TotalTime>
  <Words>2421</Words>
  <Application>Microsoft Office PowerPoint</Application>
  <PresentationFormat>Widescreen</PresentationFormat>
  <Paragraphs>572</Paragraphs>
  <Slides>32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Aptos</vt:lpstr>
      <vt:lpstr>Arial</vt:lpstr>
      <vt:lpstr>Calibri</vt:lpstr>
      <vt:lpstr>Cambria Math</vt:lpstr>
      <vt:lpstr>Courier New</vt:lpstr>
      <vt:lpstr>Gill Sans Nova</vt:lpstr>
      <vt:lpstr>Wingdings</vt:lpstr>
      <vt:lpstr>Office Theme</vt:lpstr>
      <vt:lpstr>Constraint Modelling with LLMs Using In-Context Learning</vt:lpstr>
      <vt:lpstr>Constraint Modelling: An Example</vt:lpstr>
      <vt:lpstr>Constraint Modelling: An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Background: Large Language Models</vt:lpstr>
      <vt:lpstr>How to choose C?</vt:lpstr>
      <vt:lpstr>PowerPoint Presentation</vt:lpstr>
      <vt:lpstr>1. LLMs as solvers</vt:lpstr>
      <vt:lpstr>1. LLMs as solvers</vt:lpstr>
      <vt:lpstr>2. LLMs as modellers</vt:lpstr>
      <vt:lpstr>PowerPoint Presentation</vt:lpstr>
      <vt:lpstr>3. Blueprint Model</vt:lpstr>
      <vt:lpstr>PowerPoint Presentation</vt:lpstr>
      <vt:lpstr>PowerPoint Presentation</vt:lpstr>
      <vt:lpstr>4. Named Entity Recognition</vt:lpstr>
      <vt:lpstr>PowerPoint Presentation</vt:lpstr>
      <vt:lpstr>Named Entity Recognition</vt:lpstr>
      <vt:lpstr>Named Entity Recognition</vt:lpstr>
      <vt:lpstr>Evaluation Metrics</vt:lpstr>
      <vt:lpstr>Experiments: Datasets</vt:lpstr>
      <vt:lpstr>LLMs as CP solvers? No. LLMs as CP modellers? Possible.</vt:lpstr>
      <vt:lpstr>Intermediate  Representations</vt:lpstr>
      <vt:lpstr>Retrieval-Augmented ICL? Yes.</vt:lpstr>
      <vt:lpstr>The more examples the better? Not exactly.</vt:lpstr>
      <vt:lpstr>What about more diverse problems?</vt:lpstr>
      <vt:lpstr>Key Conclusions</vt:lpstr>
      <vt:lpstr>Future/Current Work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Constraint Modelling with LLMs using In-Context Learning</dc:title>
  <dc:creator>Kostis Michailidis</dc:creator>
  <cp:lastModifiedBy>Dimos Tsouros</cp:lastModifiedBy>
  <cp:revision>36</cp:revision>
  <dcterms:created xsi:type="dcterms:W3CDTF">2024-05-16T16:51:37Z</dcterms:created>
  <dcterms:modified xsi:type="dcterms:W3CDTF">2025-02-26T04:03:06Z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0x010100F8A221F6F8C150469551C2E5C407A4CB</vt:lpwstr>
  </property>
</Properties>
</file>